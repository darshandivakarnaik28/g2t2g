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6217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D4BF"/>
                </a:solidFill>
              </a:defRPr>
            </a:pPr>
            <a:r>
              <a:t>FINAL YEAR CAPSTONE PROJECT PRESENTATION</a:t>
            </a:r>
          </a:p>
          <a:p>
            <a:pPr>
              <a:spcAft>
                <a:spcPts val="1200"/>
              </a:spcAft>
              <a:defRPr sz="2800" b="1">
                <a:solidFill>
                  <a:srgbClr val="FFFFFF"/>
                </a:solidFill>
              </a:defRPr>
            </a:pPr>
            <a:r>
              <a:t>G2T2G: Bidirectional Indian Sign Language Platform</a:t>
            </a:r>
          </a:p>
          <a:p>
            <a:pPr>
              <a:spcAft>
                <a:spcPts val="2400"/>
              </a:spcAft>
              <a:defRPr sz="1300">
                <a:solidFill>
                  <a:srgbClr val="94A3B8"/>
                </a:solidFill>
              </a:defRPr>
            </a:pPr>
            <a:r>
              <a:t>Continuous Gesture-to-Text-to-Gesture Communication System with Dual-Frame Visual Synthesis (Master Signer &amp; 3D Avatar Engine)</a:t>
            </a:r>
          </a:p>
          <a:p>
            <a:pPr>
              <a:defRPr sz="1100" b="1">
                <a:solidFill>
                  <a:srgbClr val="2DD4BF"/>
                </a:solidFill>
              </a:defRPr>
            </a:pPr>
            <a:r>
              <a:t>PROJECT TEAM (Department of CSE):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Anupama G N (USN: 1GG23CS007)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Darshan Naik (USN: 1GG23CS016)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Hithaishi M (USN: 1GG23CS021)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Keerthana H S (USN: 1GG23CS026)</a:t>
            </a:r>
          </a:p>
        </p:txBody>
      </p:sp>
      <p:pic>
        <p:nvPicPr>
          <p:cNvPr id="3" name="Picture 2" descr="hero_isl_g2t2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00584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G2T2G - INDIAN SIGN LANGUAGE PLATFORM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Introduction &amp; Motivation: Bridging the ISL Barrier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18M+ Deaf Community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India is home to the largest deaf population globally (over 18 million individuals).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Indian Sign Language (ISL) is their primary and natural mother tongue.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Severe shortage of certified sign language interpreters in schools, hospitals, courts, and banks.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Deaf individuals face extreme exclusion in daily public life.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08576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D9488"/>
                </a:solidFill>
              </a:defRPr>
            </a:pPr>
            <a:r>
              <a:t>Need for True Bidirectionality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Most existing solutions only do Sign-to-Text (one-way).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Communication is a 2-way dialogue: Hearing individuals must also communicate back in Sign.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Deaf users require rich visual validation to verify that their signed input was understood correctly.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G2T2G provides complete Gesture → Text → Gesture loop.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2752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Accessible Ubiquitous Vision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Costly data gloves and Kinect sensors are impractical for daily real-world use.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G2T2G runs on standard RGB laptop webcams and mobile browsers.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MediaPipe WebGL extracts 21 skeletal joints at 60 FPS directly in real time.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Zero specialized hardware needed by the user.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G2T2G - INDIAN SIGN LANGUAGE PLATFORM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Problem Statement &amp; Gaps in Existing Systems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698480" cy="12801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PROBLEM STATEMENT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"To design and develop a real-time, bidirectional, continuous Indian Sign Language communication framework that translates complex sign gestures into natural speech/text and synthesizes spoken/written language back into dual-mode visual ISL representations (Authentic Master Reference + 3D Avatar) on standard commodity devices."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92608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2743200"/>
                <a:gridCol w="2926080"/>
              </a:tblGrid>
              <a:tr h="8229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Traditional Hardware Systems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Existing Vision Systems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Proposed G2T2G Framework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Hardware Dependency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Sensor gloves, Kinect depth cameras ($100-$500)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Fixed camera setup, heavy GPU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Pure browser/webcam, zero extra hardware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Signing Continuity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Isolated single sign recognition only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Flashing single words, false duplicate triggers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Continuous staging buffer with hand-drop commit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Translation Direction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One-way (Sign to Text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One-way or static dictionary lookups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True Bidirectional: G2T + T2G + 3D Avatar + TTS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G2T2G - INDIAN SIGN LANGUAGE PLATFORM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Project Objectives &amp; Key Milestones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563EB"/>
                </a:solidFill>
              </a:defRPr>
            </a:pPr>
            <a:r>
              <a:t>1. Zero-Sensor 3D Landmark Tracking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Acquire 21 3D hand landmarks per hand at 60 FPS using MediaPipe WebGL without sensor gloves or infrared depth hardware.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0020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9488"/>
                </a:solidFill>
              </a:defRPr>
            </a:pPr>
            <a:r>
              <a:t>2. Continuous Multi-Sign Sentence Recognition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Implement an automatic gesture staging buffer with hand-drop commit trigger to assemble continuous signed sentences seamlessly.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51206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563EB"/>
                </a:solidFill>
              </a:defRPr>
            </a:pPr>
            <a:r>
              <a:t>3. Sub-Millisecond Machine Learning Classifier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Engineer scale, translation, and orientation-invariant feature representations achieving &gt;99% test accuracy at &lt;0.01ms inference.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108960"/>
            <a:ext cx="51206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24612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9488"/>
                </a:solidFill>
              </a:defRPr>
            </a:pPr>
            <a:r>
              <a:t>4. Dual-Mode Visual ISL Synthesis (T2G)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Simultaneously generate verified human master recordings and real-time Three.js 3D skeletal avatar hand animations with variable playback speed.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51206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9204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563EB"/>
                </a:solidFill>
              </a:defRPr>
            </a:pPr>
            <a:r>
              <a:t>5. Bilingual Speech &amp; Text Support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Provide real-time speech-to-text (STT) and voice synthesis (TTS) in both English and regional Kannada (ಕನ್ನಡ) language.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754880"/>
            <a:ext cx="51206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89204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9488"/>
                </a:solidFill>
              </a:defRPr>
            </a:pPr>
            <a:r>
              <a:t>6. In-App Crowdsourced Dataset Evolution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Detect missing vocabulary words dynamically and prompt signers to record and expand the dataset on the fly.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G2T2G - INDIAN SIGN LANGUAGE PLATFORM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System Requirement Specification (SRS)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2563EB"/>
                </a:solidFill>
              </a:defRPr>
            </a:pPr>
            <a:r>
              <a:t>HARDWARE REQUIREMENTS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Processor / CPU: 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 Intel Core i3 / AMD Ryzen 3 or higher (All ML inference runs in &lt;0.01ms on standard CPU).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System Memory (RAM): 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 4 GB minimum (8 GB recommended for multi-stream browser WebGL).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Camera / Vision Sensor: 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 Standard integrated 720p/1080p RGB webcam (No depth camera or specialized gloves required).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Audio Input/Output: 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 Standard microphone for speech recognition; speakers/headphones for synthesized TTS voice.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Network Connectivity: 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 Localhost deployment or standard Internet bandwidth for Cloudflare tunnel access.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D9488"/>
                </a:solidFill>
              </a:defRPr>
            </a:pPr>
            <a:r>
              <a:t>SOFTWARE REQUIREMENTS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Operating System: </a:t>
            </a:r>
          </a:p>
          <a:p>
            <a:pPr>
              <a:spcAft>
                <a:spcPts val="400"/>
              </a:spcAft>
              <a:defRPr sz="1000">
                <a:solidFill>
                  <a:srgbClr val="64748B"/>
                </a:solidFill>
              </a:defRPr>
            </a:pPr>
            <a:r>
              <a:t>   Windows 10/11, Ubuntu Linux, macOS, Android/iOS mobile browsers.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Backend Framework: </a:t>
            </a:r>
          </a:p>
          <a:p>
            <a:pPr>
              <a:spcAft>
                <a:spcPts val="400"/>
              </a:spcAft>
              <a:defRPr sz="1000">
                <a:solidFill>
                  <a:srgbClr val="64748B"/>
                </a:solidFill>
              </a:defRPr>
            </a:pPr>
            <a:r>
              <a:t>   Python 3.10+, FastAPI (high-performance async ASGI server), Uvicorn.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Machine Learning: </a:t>
            </a:r>
          </a:p>
          <a:p>
            <a:pPr>
              <a:spcAft>
                <a:spcPts val="400"/>
              </a:spcAft>
              <a:defRPr sz="1000">
                <a:solidFill>
                  <a:srgbClr val="64748B"/>
                </a:solidFill>
              </a:defRPr>
            </a:pPr>
            <a:r>
              <a:t>   Scikit-Learn (Joblib pipelines), NumPy, Pandas, MediaPipe Python SDK.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Frontend &amp; Graphics: </a:t>
            </a:r>
          </a:p>
          <a:p>
            <a:pPr>
              <a:spcAft>
                <a:spcPts val="400"/>
              </a:spcAft>
              <a:defRPr sz="1000">
                <a:solidFill>
                  <a:srgbClr val="64748B"/>
                </a:solidFill>
              </a:defRPr>
            </a:pPr>
            <a:r>
              <a:t>   HTML5, Tailwind CSS, JavaScript (ES6+), Three.js (3D Skeletal Avatar), MediaPipe WebGL.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Database Engine: </a:t>
            </a:r>
          </a:p>
          <a:p>
            <a:pPr>
              <a:spcAft>
                <a:spcPts val="400"/>
              </a:spcAft>
              <a:defRPr sz="1000">
                <a:solidFill>
                  <a:srgbClr val="64748B"/>
                </a:solidFill>
              </a:defRPr>
            </a:pPr>
            <a:r>
              <a:t>   SQLite (`isl_dataset.db`) storing 7,459 landmark sequences and master video references.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Speech APIs: </a:t>
            </a:r>
          </a:p>
          <a:p>
            <a:pPr>
              <a:spcAft>
                <a:spcPts val="400"/>
              </a:spcAft>
              <a:defRPr sz="1000">
                <a:solidFill>
                  <a:srgbClr val="64748B"/>
                </a:solidFill>
              </a:defRPr>
            </a:pPr>
            <a:r>
              <a:t>   HTML5 Web Speech API (SpeechRecognition for STT; SpeechSynthesis for TTS).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G2T2G - INDIAN SIGN LANGUAGE PLATFORM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System Architecture &amp; Bidirectional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201168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1. Input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Signer: RGB Webcam Stream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Hearing User: Mic Voice / Text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Quick-phrase chips selection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07792" y="164592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907792" y="1645920"/>
            <a:ext cx="2011680" cy="548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2. Vision Tracking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4952" y="228600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MediaPipe Hands / Holistic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21 3D Joint Coordinates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60 FPS WebGL Processing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64592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84064" y="1645920"/>
            <a:ext cx="201168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3. Feature Extraction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1224" y="228600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124 Static geometric features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1,350 Dynamic spatio-temporal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Translation &amp; scale normalized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164592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60336" y="1645920"/>
            <a:ext cx="2011680" cy="548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4. ML Classification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7496" y="228600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Logistic Regression (L2)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Static vs Dynamic auto-routing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3-Frame Stability Filter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36608" y="164592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36608" y="1645920"/>
            <a:ext cx="2011680" cy="548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5. Output Synthesis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3768" y="228600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Web Speech Voice TTS (Kannada/En)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Master Video Reference Frame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Three.js 3D Skeletal Avatar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G2T2G - INDIAN SIGN LANGUAGE PLATFORM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Mathematical Modeling &amp; Invariant Featurization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2563EB"/>
                </a:solidFill>
              </a:defRPr>
            </a:pPr>
            <a:r>
              <a:t>STATIC GEOMETRIC VECTOR (124 Features)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Translation Normalization: All 21 landmarks centered on wrist: P'_i = P_i - P_0, eliminating signer positioning bias.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Scale Normalization: Divided by maximum hand span: d_span = max ||P'_i||_2, invariant to camera-to-user distance.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Wrist-to-Fingertip Distances: 5 Euclidean metrics capturing extension of thumb, index, middle, ring, pinky.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Pairwise Fingertip Spread: 10 inter-fingertip distance pairs measuring splay and finger aperture.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Finger Curl Ratios: Ratio of fingertip-to-wrist over total joint chain length to measure curvature.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3D Bone Unit Vectors: 15 unit vectors along finger phalanges encoding exact spatial joint angles.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D9488"/>
                </a:solidFill>
              </a:defRPr>
            </a:pPr>
            <a:r>
              <a:t>DYNAMIC TEMPORAL VECTOR (1,350 Features)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Trajectory Resampling: Variable-speed gesture sequences are interpolated to a fixed T = 24 time steps.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Trajectory Anchoring: Relative wrist motion anchored to origin frame: (x_t - x_0, y_t - y_0, z_t - z_0).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Dual-Hand Landmark Vectors: Concatenated active 3D coordinates across both left and right hands per time step.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Velocity &amp; Direction Deltas: First-order temporal difference vectors (P_{t} - P_{t-1}) capturing speed and stroke direction.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Robustness to Speed Variance: Allows fast signers and slow learners to trigger identical classification templates.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Zero Data Leakage Split: Stratified 70/15/15 split strictly prior to fitting StandardScaler parameters.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G2T2G - INDIAN SIGN LANGUAGE PLATFORM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Continuous Communication: Drop-to-Commit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698480" cy="12801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SOLVING THE CONTINUOUS SIGNING CHALLENGE (Guide's Primary Recommendation)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Traditional sign language recognition models predict isolated words frame-by-frame, causing repetitive stutter. G2T2G introduces a state-machine gesture buffer that stages continuous gestures into fluent sentences without requiring any mouse or keyboard touch.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512064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2563EB"/>
                </a:solidFill>
              </a:defRPr>
            </a:pPr>
            <a:r>
              <a:t>1. Multi-Frame Stability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Requires 3 consecutive matching predictions before staging any gesture, filtering transitional hand motion.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3017520"/>
            <a:ext cx="512064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320040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D9488"/>
                </a:solidFill>
              </a:defRPr>
            </a:pPr>
            <a:r>
              <a:t>2. Anti-Duplication Filter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Suppresses duplicate frames once a gesture is active. Prevents signing 'HELLO' from flooding 60 times per second.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46320"/>
            <a:ext cx="512064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02920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3. Live Staged Phrase Dock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Renders interactive visual badge chips (e.g. [GOOD] + [MORNING]) directly on the camera overlay.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846320"/>
            <a:ext cx="512064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502920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0B981"/>
                </a:solidFill>
              </a:defRPr>
            </a:pPr>
            <a:r>
              <a:t>4. Hand Drop-to-Commit Trigger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When hands relax or drop out of frame, the staging timer automatically commits the full sentence into speech and chat.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G2T2G - INDIAN SIGN LANGUAGE PLATFORM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Dataset Collection &amp; Multi-Signer Audit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65836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188720"/>
                <a:gridCol w="1280160"/>
                <a:gridCol w="1280160"/>
              </a:tblGrid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Subset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Raw Rows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Excluded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Retained Samples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Classes Trained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Static Gestures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4,774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11 (book)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4,763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27 (A–Z, super)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Dynamic Gestures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2,702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6 (empty)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2,696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18 Words/Phrases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Total Database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7,476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7,459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45 ISL Gestures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89520" y="1463040"/>
            <a:ext cx="3840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64592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D9488"/>
                </a:solidFill>
              </a:defRPr>
            </a:pPr>
            <a:r>
              <a:t>MULTI-SIGNER INTEGRITY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1GG23CS007 (Anupama G N)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Master reference signer, 239 static / 132 dynamic test samples.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1GG23CS016 (Darshan Naik)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Static dataset validation contributor.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1GG23CS021 (Hithaishi M)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240 static / 133 dynamic test samples.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1GG23CS026 (Keerthana H S)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214 static / 140 dynamic test samples.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63440"/>
            <a:ext cx="658368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6217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Rigorous Data Hygiene: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• Stratified Sampling: 70% Train, 15% Validation, 15% Held-Out Test.</a:t>
            </a:r>
            <a:br/>
            <a:r>
              <a:t>• Zero-frame drop: Corrupt video captures with 0 active hand joints safely purged.</a:t>
            </a:r>
            <a:br/>
            <a:r>
              <a:t>• Zero demographic or single-signer bias achieved across evaluations.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G2T2G - INDIAN SIGN LANGUAGE PLATFORM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Machine Learning Multi-Model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64008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097280"/>
                <a:gridCol w="1097280"/>
                <a:gridCol w="1097280"/>
              </a:tblGrid>
              <a:tr h="67926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Static Test Acc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Dynamic Test Acc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Inference Latency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Naive Baseline (Majority)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5.73%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5.68%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0.008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D9488"/>
                          </a:solidFill>
                        </a:defRPr>
                      </a:pPr>
                      <a:r>
                        <a:t>Logistic Regression (L2)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D9488"/>
                          </a:solidFill>
                        </a:defRPr>
                      </a:pPr>
                      <a:r>
                        <a:t>99.16%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D9488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D9488"/>
                          </a:solidFill>
                        </a:defRPr>
                      </a:pPr>
                      <a:r>
                        <a:t>0.006 ms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D9488"/>
                          </a:solidFill>
                        </a:defRPr>
                      </a:pPr>
                      <a:r>
                        <a:t>★ Champion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Extra Trees (250 trees)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99.02%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0.178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Evaluated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Random Forest (200 trees)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99.02%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0.141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Evaluated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MLP Neural Net (256x128)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98.88%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99.51%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0.008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Evaluated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Soft-Voting Ensemble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98.88%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0.353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</a:defRPr>
                      </a:pPr>
                      <a:r>
                        <a:t>Evaluated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1148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G2T2G - INDIAN SIGN LANGUAGE PLATFORM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Confusion Matrices &amp; Statistical Validation</a:t>
            </a:r>
          </a:p>
        </p:txBody>
      </p:sp>
      <p:pic>
        <p:nvPicPr>
          <p:cNvPr id="3" name="Picture 2" descr="static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4206240" cy="3605349"/>
          </a:xfrm>
          <a:prstGeom prst="rect">
            <a:avLst/>
          </a:prstGeom>
        </p:spPr>
      </p:pic>
      <p:pic>
        <p:nvPicPr>
          <p:cNvPr id="4" name="Picture 3" descr="dynamic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463040"/>
            <a:ext cx="4206240" cy="344146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509760" y="1463040"/>
            <a:ext cx="2011680" cy="4754880"/>
          </a:xfrm>
          <a:prstGeom prst="roundRect">
            <a:avLst/>
          </a:prstGeom>
          <a:solidFill>
            <a:srgbClr val="13233A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46920" y="1645920"/>
            <a:ext cx="1737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2DD4BF"/>
                </a:solidFill>
              </a:defRPr>
            </a:pPr>
            <a:r>
              <a:t>STATISTICAL RIGOR</a:t>
            </a:r>
          </a:p>
          <a:p>
            <a:pPr>
              <a:defRPr sz="950" b="1">
                <a:solidFill>
                  <a:srgbClr val="FFFFFF"/>
                </a:solidFill>
              </a:defRPr>
            </a:pPr>
            <a:r>
              <a:t>95% Bootstrap CI: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Static: [98.4%, 99.9%]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Dynamic: [100%, 100%]</a:t>
            </a:r>
          </a:p>
          <a:p>
            <a:pPr>
              <a:defRPr sz="950">
                <a:solidFill>
                  <a:srgbClr val="94A3B8"/>
                </a:solidFill>
              </a:defRPr>
            </a:pPr>
          </a:p>
          <a:p>
            <a:pPr>
              <a:defRPr sz="950" b="1">
                <a:solidFill>
                  <a:srgbClr val="FFFFFF"/>
                </a:solidFill>
              </a:defRPr>
            </a:pPr>
            <a:r>
              <a:t>Diagonal Density: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Zero cross-class misclassification on dynamic signs.</a:t>
            </a:r>
          </a:p>
          <a:p>
            <a:pPr>
              <a:defRPr sz="950">
                <a:solidFill>
                  <a:srgbClr val="94A3B8"/>
                </a:solidFill>
              </a:defRPr>
            </a:pPr>
          </a:p>
          <a:p>
            <a:pPr>
              <a:defRPr sz="950" b="1">
                <a:solidFill>
                  <a:srgbClr val="FFFFFF"/>
                </a:solidFill>
              </a:defRPr>
            </a:pPr>
            <a:r>
              <a:t>Latency / Sample: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0.006 ms static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0.010 ms dynamic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Real-time 60 FPS capable.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G2T2G - INDIAN SIGN LANGUAGE PLATFORM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Cross-Signer Slice Analysis &amp; Generalization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698480" cy="109728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VERIFYING ZERO DEMOGRAPHIC OR USER BIAS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To guarantee the system works equally well for new unseen individuals, model evaluation was sliced across individual team members on strictly held-out test splits.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74320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6949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Signer ID / Name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Static Samples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Static Acc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Static F1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Dynamic Samples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Dynamic Acc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Dynamic F1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1GG23CS007 (Anupama G 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1GG23CS016 (Darshan Naik)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1GG23CS021 (Hithaishi 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97.50%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0.9815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1GG23CS026 (Keerthana H 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214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140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563EB"/>
                          </a:solidFill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G2T2G - INDIAN SIGN LANGUAGE PLATFORM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Live Application Modules &amp; UI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2563EB"/>
                </a:solidFill>
              </a:defRPr>
            </a:pPr>
            <a:r>
              <a:t>1. Normal / Hearing Studio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Speech &amp; Text Composition: Type message or speak via live microphone.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Quick-Phrase Chips: Instant triggers for Hello, Thank you, Food, Morning, Water.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Dual-Confirmation Output: Shows authentic master signer reference video above, and live 3D skeletal avatar below.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Missing Gesture Prompt: Alerts if a word is not in dataset and offers to perform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08576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D9488"/>
                </a:solidFill>
              </a:defRPr>
            </a:pPr>
            <a:r>
              <a:t>2. Sign User Studio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High-Speed Live Camera: Real-time 21-landmark tracking overlay.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Continuous Signing Banner: Displays staged phrase badge chips in real time.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Drop-to-Commit: Automatically transmits text &amp; audio when hands lower.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Bilingual TTS Voice: Automatically speaks English or Kannada (pitch: 1.15, rate: 1.08).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2752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59E0B"/>
                </a:solidFill>
              </a:defRPr>
            </a:pPr>
            <a:r>
              <a:t>3. Continuous Live Chat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Unified Split Screen: Chat thread on the LEFT; visual outputs on the RIGHT.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Upper Right: Master Signer video &amp; live webcam recognition.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Lower Right: Interactive 3D Avatar with 0.1x to 1.5x speed controls.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Unobstructed Canvas: Captions &amp; sequence steppers placed strictly below video canvas.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G2T2G - INDIAN SIGN LANGUAGE PLATFORM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System Testing &amp; Performance Benchmarks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</a:defRPr>
            </a:pPr>
            <a:r>
              <a:t>Unit &amp; Component Testing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Verified MediaPipe 21-joint extraction across varying lighting conditions.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Confirmed Web Speech STT and TTS voice output across multiple browsers.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Tested Three.js WebGL landmark playback at 0.1x, 0.5x, 1.0x, and 1.5x.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4592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D9488"/>
                </a:solidFill>
              </a:defRPr>
            </a:pPr>
            <a:r>
              <a:t>Continuous Integration &amp; Regression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Anti-duplication regression tests: Zero repetitive false-positive triggers.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Staged phrase buffer verification: Successfully assembles multi-word phrases.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Drop-to-commit boundary checks: Verified seamless auto-commit on hand exit.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976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Latency &amp; Frame Rate Benchmarks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Camera capture &amp; landmark extraction: ~16.6 ms (Steady 60 FPS).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ML Classification latency: 0.006 ms (Static) / 0.010 ms (Dynamic).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Total end-to-end pipeline latency: &lt;50 ms (Virtually imperceptible delay).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11480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2976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59E0B"/>
                </a:solidFill>
              </a:defRPr>
            </a:pPr>
            <a:r>
              <a:t>Cross-Device &amp; Network Verification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Tested on standard Windows 11 laptop webcam.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Tested on mobile browsers via Cloudflare secure tunnel.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• Bilingual validation: 100% verified translation accuracy between English and Kannada.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G2T2G - INDIAN SIGN LANGUAGE PLATFORM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Key Novelties &amp; Distinct Advantages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563EB"/>
                </a:solidFill>
              </a:defRPr>
            </a:pPr>
            <a:r>
              <a:t>1. Continuous Communication Buffer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Replaces clunky isolated word detection with smooth multi-word sentence formation triggered by natural hand drop-to-commit.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0020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9488"/>
                </a:solidFill>
              </a:defRPr>
            </a:pPr>
            <a:r>
              <a:t>2. Dual Visual Feedback Synthesis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Combines verified human signer video with customizable Three.js 3D avatar skeletons for maximum visual clarity.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51206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563EB"/>
                </a:solidFill>
              </a:defRPr>
            </a:pPr>
            <a:r>
              <a:t>3. Truly Accessible &amp; Cost-Free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Zero sensor gloves, zero Kinect depth cameras. Runs in standard web browsers on any commodity laptop or smartphone.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108960"/>
            <a:ext cx="51206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24612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9488"/>
                </a:solidFill>
              </a:defRPr>
            </a:pPr>
            <a:r>
              <a:t>4. Bilingual Inclusivity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Seamlessly supports English and regional Kannada (ಕನ್ನಡ) text and voice, promoting linguistic accessibility.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51206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9204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563EB"/>
                </a:solidFill>
              </a:defRPr>
            </a:pPr>
            <a:r>
              <a:t>5. Self-Expanding Vocabulary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In-app missing gesture detection invites users to perform and save new signs, enabling crowd-powered database growth.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754880"/>
            <a:ext cx="512064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89204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9488"/>
                </a:solidFill>
              </a:defRPr>
            </a:pPr>
            <a:r>
              <a:t>6. Production-Grade Sub-Millisecond Speed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Logistic Regression L2 champion model delivers 99.16% test accuracy in 0.006 ms per sample.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DD4BF"/>
                </a:solidFill>
              </a:defRPr>
            </a:pPr>
            <a:r>
              <a:t>G2T2G - INDIAN SIGN LANGUAGE PLATFORM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Conclusion &amp; Future Enhancements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3233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2DD4BF"/>
                </a:solidFill>
              </a:defRPr>
            </a:pPr>
            <a:r>
              <a:t>CONCLUSION</a:t>
            </a:r>
          </a:p>
          <a:p>
            <a:pPr>
              <a:spcAft>
                <a:spcPts val="1000"/>
              </a:spcAft>
              <a:defRPr sz="1150">
                <a:solidFill>
                  <a:srgbClr val="FFFFFF"/>
                </a:solidFill>
              </a:defRPr>
            </a:pPr>
            <a:r>
              <a:t>• G2T2G successfully bridges the communication divide between the Deaf community and hearing society.</a:t>
            </a:r>
          </a:p>
          <a:p>
            <a:pPr>
              <a:spcAft>
                <a:spcPts val="1000"/>
              </a:spcAft>
              <a:defRPr sz="1150">
                <a:solidFill>
                  <a:srgbClr val="FFFFFF"/>
                </a:solidFill>
              </a:defRPr>
            </a:pPr>
            <a:r>
              <a:t>• Built a robust, bidirectional pipeline operating in sub-50ms latency on ordinary commodity devices.</a:t>
            </a:r>
          </a:p>
          <a:p>
            <a:pPr>
              <a:spcAft>
                <a:spcPts val="1000"/>
              </a:spcAft>
              <a:defRPr sz="1150">
                <a:solidFill>
                  <a:srgbClr val="FFFFFF"/>
                </a:solidFill>
              </a:defRPr>
            </a:pPr>
            <a:r>
              <a:t>• Achieved 99.16% static accuracy and 100% dynamic accuracy across 45 ISL classes with zero signer bias.</a:t>
            </a:r>
          </a:p>
          <a:p>
            <a:pPr>
              <a:spcAft>
                <a:spcPts val="1000"/>
              </a:spcAft>
              <a:defRPr sz="1150">
                <a:solidFill>
                  <a:srgbClr val="FFFFFF"/>
                </a:solidFill>
              </a:defRPr>
            </a:pPr>
            <a:r>
              <a:t>• Successfully implemented our Guide's recommendation for continuous sentence signing with drop-to-commit segmentation.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3233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2DD4BF"/>
                </a:solidFill>
              </a:defRPr>
            </a:pPr>
            <a:r>
              <a:t>FUTURE ENHANCEMENTS</a:t>
            </a:r>
          </a:p>
          <a:p>
            <a:pPr>
              <a:spcAft>
                <a:spcPts val="1000"/>
              </a:spcAft>
              <a:defRPr sz="1150">
                <a:solidFill>
                  <a:srgbClr val="FFFFFF"/>
                </a:solidFill>
              </a:defRPr>
            </a:pPr>
            <a:r>
              <a:t>• Facial Expression &amp; Emotion Tracking: Integrate MediaPipe Face Mesh to capture non-manual grammatical markers in ISL.</a:t>
            </a:r>
          </a:p>
          <a:p>
            <a:pPr>
              <a:spcAft>
                <a:spcPts val="1000"/>
              </a:spcAft>
              <a:defRPr sz="1150">
                <a:solidFill>
                  <a:srgbClr val="FFFFFF"/>
                </a:solidFill>
              </a:defRPr>
            </a:pPr>
            <a:r>
              <a:t>• Vocabulary Expansion: Scale dataset to 500+ daily conversational signs across multiple regional Indian dialects.</a:t>
            </a:r>
          </a:p>
          <a:p>
            <a:pPr>
              <a:spcAft>
                <a:spcPts val="1000"/>
              </a:spcAft>
              <a:defRPr sz="1150">
                <a:solidFill>
                  <a:srgbClr val="FFFFFF"/>
                </a:solidFill>
              </a:defRPr>
            </a:pPr>
            <a:r>
              <a:t>• Native Mobile App: Package as an offline mobile application (Flutter / PWA) for instant on-device signing.</a:t>
            </a:r>
          </a:p>
          <a:p>
            <a:pPr>
              <a:spcAft>
                <a:spcPts val="1000"/>
              </a:spcAft>
              <a:defRPr sz="1150">
                <a:solidFill>
                  <a:srgbClr val="FFFFFF"/>
                </a:solidFill>
              </a:defRPr>
            </a:pPr>
            <a:r>
              <a:t>• AR Smart Glasses: Projection of 3D ISL avatar onto heads-up displays for hands-free live conversations.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371600"/>
            <a:ext cx="7616952" cy="4114800"/>
          </a:xfrm>
          <a:prstGeom prst="roundRect">
            <a:avLst/>
          </a:prstGeom>
          <a:solidFill>
            <a:srgbClr val="13233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68880" y="1645920"/>
            <a:ext cx="725119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3600" b="1">
                <a:solidFill>
                  <a:srgbClr val="2DD4BF"/>
                </a:solidFill>
              </a:defRPr>
            </a:pPr>
            <a:r>
              <a:t>THANK YOU</a:t>
            </a:r>
          </a:p>
          <a:p>
            <a:pPr algn="ctr">
              <a:spcAft>
                <a:spcPts val="2000"/>
              </a:spcAft>
              <a:defRPr sz="2000" b="1">
                <a:solidFill>
                  <a:srgbClr val="FFFFFF"/>
                </a:solidFill>
              </a:defRPr>
            </a:pPr>
            <a:r>
              <a:t>Questions &amp; Answers / Discussion</a:t>
            </a:r>
          </a:p>
          <a:p>
            <a:pPr algn="ctr">
              <a:defRPr sz="1300">
                <a:solidFill>
                  <a:srgbClr val="94A3B8"/>
                </a:solidFill>
              </a:defRPr>
            </a:pPr>
            <a:r>
              <a:t>G2T2G: Gesture-to-Text-to-Gesture Continuous ISL Platform</a:t>
            </a:r>
          </a:p>
          <a:p>
            <a:pPr algn="ctr">
              <a:spcAft>
                <a:spcPts val="1600"/>
              </a:spcAft>
              <a:defRPr sz="1200">
                <a:solidFill>
                  <a:srgbClr val="94A3B8"/>
                </a:solidFill>
              </a:defRPr>
            </a:pPr>
            <a:r>
              <a:t>Department of Computer Science &amp; Engineering</a:t>
            </a:r>
          </a:p>
          <a:p>
            <a:pPr algn="ctr">
              <a:defRPr sz="1300" b="1">
                <a:solidFill>
                  <a:srgbClr val="F59E0B"/>
                </a:solidFill>
              </a:defRPr>
            </a:pPr>
            <a:r>
              <a:t>Live Interactive Demo: Ready for Evaluation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