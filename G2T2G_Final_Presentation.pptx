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p1_slideLayout1.xml" ContentType="application/vnd.openxmlformats-officedocument.presentationml.slideLayout+xml"/>
  <Override PartName="/ppt/slideLayouts/p1_slideLayout10.xml" ContentType="application/vnd.openxmlformats-officedocument.presentationml.slideLayout+xml"/>
  <Override PartName="/ppt/slideLayouts/p1_slideLayout11.xml" ContentType="application/vnd.openxmlformats-officedocument.presentationml.slideLayout+xml"/>
  <Override PartName="/ppt/slideLayouts/p1_slideLayout2.xml" ContentType="application/vnd.openxmlformats-officedocument.presentationml.slideLayout+xml"/>
  <Override PartName="/ppt/slideLayouts/p1_slideLayout3.xml" ContentType="application/vnd.openxmlformats-officedocument.presentationml.slideLayout+xml"/>
  <Override PartName="/ppt/slideLayouts/p1_slideLayout4.xml" ContentType="application/vnd.openxmlformats-officedocument.presentationml.slideLayout+xml"/>
  <Override PartName="/ppt/slideLayouts/p1_slideLayout5.xml" ContentType="application/vnd.openxmlformats-officedocument.presentationml.slideLayout+xml"/>
  <Override PartName="/ppt/slideLayouts/p1_slideLayout6.xml" ContentType="application/vnd.openxmlformats-officedocument.presentationml.slideLayout+xml"/>
  <Override PartName="/ppt/slideLayouts/p1_slideLayout7.xml" ContentType="application/vnd.openxmlformats-officedocument.presentationml.slideLayout+xml"/>
  <Override PartName="/ppt/slideLayouts/p1_slideLayout8.xml" ContentType="application/vnd.openxmlformats-officedocument.presentationml.slideLayout+xml"/>
  <Override PartName="/ppt/slideLayouts/p1_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p1_slideMaster1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p1_theme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89" r:id="rId4"/>
    <p:sldMasterId id="2147484190" r:id="rId26"/>
  </p:sldMasterIdLst>
  <p:notesMasterIdLst>
    <p:notesMasterId r:id="rId16"/>
  </p:notesMasterIdLst>
  <p:handoutMasterIdLst>
    <p:handoutMasterId r:id="rId17"/>
  </p:handout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  <p:sldId id="276" r:id="rId47"/>
    <p:sldId id="277" r:id="rId48"/>
    <p:sldId id="278" r:id="rId49"/>
    <p:sldId id="279" r:id="rId50"/>
    <p:sldId id="280" r:id="rId51"/>
    <p:sldId id="281" r:id="rId52"/>
    <p:sldId id="282" r:id="rId53"/>
    <p:sldId id="283" r:id="rId54"/>
    <p:sldId id="284" r:id="rId24"/>
    <p:sldId id="285" r:id="rId23"/>
    <p:sldId id="286" r:id="rId15"/>
    <p:sldId id="287" r:id="rId14"/>
    <p:sldId id="288" r:id="rId13"/>
    <p:sldId id="289" r:id="rId12"/>
    <p:sldId id="290" r:id="rId11"/>
    <p:sldId id="291" r:id="rId10"/>
    <p:sldId id="292" r:id="rId9"/>
    <p:sldId id="29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1651" autoAdjust="0"/>
    <p:restoredTop sz="94609" autoAdjust="0"/>
  </p:normalViewPr>
  <p:slideViewPr>
    <p:cSldViewPr snapToGrid="0">
      <p:cViewPr varScale="1">
        <p:scale>
          <a:sx n="82" d="100"/>
          <a:sy n="82" d="100"/>
        </p:scale>
        <p:origin x="-874" y="-91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8" Type="http://schemas.openxmlformats.org/officeDocument/2006/relationships/slide" Target="slides/slide38.xml"/><Relationship Id="rId9" Type="http://schemas.openxmlformats.org/officeDocument/2006/relationships/slide" Target="slides/slide37.xml"/><Relationship Id="rId10" Type="http://schemas.openxmlformats.org/officeDocument/2006/relationships/slide" Target="slides/slide36.xml"/><Relationship Id="rId11" Type="http://schemas.openxmlformats.org/officeDocument/2006/relationships/slide" Target="slides/slide35.xml"/><Relationship Id="rId12" Type="http://schemas.openxmlformats.org/officeDocument/2006/relationships/slide" Target="slides/slide34.xml"/><Relationship Id="rId13" Type="http://schemas.openxmlformats.org/officeDocument/2006/relationships/slide" Target="slides/slide33.xml"/><Relationship Id="rId14" Type="http://schemas.openxmlformats.org/officeDocument/2006/relationships/slide" Target="slides/slide32.xml"/><Relationship Id="rId15" Type="http://schemas.openxmlformats.org/officeDocument/2006/relationships/slide" Target="slides/slide3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commentAuthors" Target="commentAuthors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30.xml"/><Relationship Id="rId24" Type="http://schemas.openxmlformats.org/officeDocument/2006/relationships/slide" Target="slides/slide29.xml"/><Relationship Id="rId25" Type="http://schemas.microsoft.com/office/2018/10/relationships/authors" Target="authors.xml"/><Relationship Id="rId26" Type="http://schemas.openxmlformats.org/officeDocument/2006/relationships/slideMaster" Target="slideMasters/p1_slide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p1_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p1_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58252190"/>
      </p:ext>
    </p:extLst>
  </p:cSld>
  <p:clrMapOvr>
    <a:masterClrMapping/>
  </p:clrMapOvr>
  <p:transition spd="slow">
    <p:push dir="u"/>
  </p:transition>
</p:sldLayout>
</file>

<file path=ppt/slideLayouts/p1_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033230880"/>
      </p:ext>
    </p:extLst>
  </p:cSld>
  <p:clrMapOvr>
    <a:masterClrMapping/>
  </p:clrMapOvr>
  <p:transition spd="slow">
    <p:push dir="u"/>
  </p:transition>
  <p:hf hdr="0"/>
</p:sldLayout>
</file>

<file path=ppt/slideLayouts/p1_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929481326"/>
      </p:ext>
    </p:extLst>
  </p:cSld>
  <p:clrMapOvr>
    <a:masterClrMapping/>
  </p:clrMapOvr>
  <p:transition spd="slow">
    <p:push dir="u"/>
  </p:transition>
  <p:hf hdr="0"/>
</p:sldLayout>
</file>

<file path=ppt/slideLayouts/p1_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123013593"/>
      </p:ext>
    </p:extLst>
  </p:cSld>
  <p:clrMapOvr>
    <a:masterClrMapping/>
  </p:clrMapOvr>
  <p:transition spd="slow">
    <p:push dir="u"/>
  </p:transition>
  <p:hf hdr="0"/>
</p:sldLayout>
</file>

<file path=ppt/slideLayouts/p1_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189427826"/>
      </p:ext>
    </p:extLst>
  </p:cSld>
  <p:clrMapOvr>
    <a:masterClrMapping/>
  </p:clrMapOvr>
  <p:transition spd="slow">
    <p:push dir="u"/>
  </p:transition>
  <p:hf hdr="0"/>
</p:sldLayout>
</file>

<file path=ppt/slideLayouts/p1_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176408731"/>
      </p:ext>
    </p:extLst>
  </p:cSld>
  <p:clrMapOvr>
    <a:masterClrMapping/>
  </p:clrMapOvr>
  <p:transition spd="slow">
    <p:push dir="u"/>
  </p:transition>
  <p:hf hdr="0"/>
</p:sldLayout>
</file>

<file path=ppt/slideLayouts/p1_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134476762"/>
      </p:ext>
    </p:extLst>
  </p:cSld>
  <p:clrMapOvr>
    <a:masterClrMapping/>
  </p:clrMapOvr>
  <p:transition spd="slow">
    <p:push dir="u"/>
  </p:transition>
  <p:hf hdr="0"/>
</p:sldLayout>
</file>

<file path=ppt/slideLayouts/p1_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669810387"/>
      </p:ext>
    </p:extLst>
  </p:cSld>
  <p:clrMapOvr>
    <a:masterClrMapping/>
  </p:clrMapOvr>
  <p:transition spd="slow">
    <p:push dir="u"/>
  </p:transition>
  <p:hf hdr="0"/>
</p:sldLayout>
</file>

<file path=ppt/slideLayouts/p1_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371609789"/>
      </p:ext>
    </p:extLst>
  </p:cSld>
  <p:clrMapOvr>
    <a:masterClrMapping/>
  </p:clrMapOvr>
  <p:transition spd="slow">
    <p:push dir="u"/>
  </p:transition>
  <p:hf hdr="0"/>
</p:sldLayout>
</file>

<file path=ppt/slideLayouts/p1_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750085832"/>
      </p:ext>
    </p:extLst>
  </p:cSld>
  <p:clrMapOvr>
    <a:masterClrMapping/>
  </p:clrMapOvr>
  <p:transition spd="slow">
    <p:push dir="u"/>
  </p:transition>
  <p:hf hdr="0"/>
</p:sldLayout>
</file>

<file path=ppt/slideLayouts/p1_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149463864"/>
      </p:ext>
    </p:extLst>
  </p:cSld>
  <p:clrMapOvr>
    <a:masterClrMapping/>
  </p:clrMapOvr>
  <p:transition spd="slow">
    <p:push dir="u"/>
  </p:transition>
  <p:hf hdr="0"/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58252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033230880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92948132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123013593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189427826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17640873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1344767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669810387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3716097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750085832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149463864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=""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=""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=""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=""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=""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=""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=""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=""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658810611"/>
      </p:ext>
    </p:extLst>
  </p:cSld>
  <p:clrMapOvr>
    <a:masterClrMapping/>
  </p:clrMapOvr>
</p:sldLayout>
</file>

<file path=ppt/slideMasters/_rels/p1_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1.xml"/><Relationship Id="rId2" Type="http://schemas.openxmlformats.org/officeDocument/2006/relationships/slideLayout" Target="../slideLayouts/p1_slideLayout2.xml"/><Relationship Id="rId3" Type="http://schemas.openxmlformats.org/officeDocument/2006/relationships/slideLayout" Target="../slideLayouts/p1_slideLayout3.xml"/><Relationship Id="rId4" Type="http://schemas.openxmlformats.org/officeDocument/2006/relationships/slideLayout" Target="../slideLayouts/p1_slideLayout4.xml"/><Relationship Id="rId5" Type="http://schemas.openxmlformats.org/officeDocument/2006/relationships/slideLayout" Target="../slideLayouts/p1_slideLayout5.xml"/><Relationship Id="rId6" Type="http://schemas.openxmlformats.org/officeDocument/2006/relationships/slideLayout" Target="../slideLayouts/p1_slideLayout6.xml"/><Relationship Id="rId7" Type="http://schemas.openxmlformats.org/officeDocument/2006/relationships/slideLayout" Target="../slideLayouts/p1_slideLayout7.xml"/><Relationship Id="rId8" Type="http://schemas.openxmlformats.org/officeDocument/2006/relationships/slideLayout" Target="../slideLayouts/p1_slideLayout8.xml"/><Relationship Id="rId9" Type="http://schemas.openxmlformats.org/officeDocument/2006/relationships/slideLayout" Target="../slideLayouts/p1_slideLayout9.xml"/><Relationship Id="rId10" Type="http://schemas.openxmlformats.org/officeDocument/2006/relationships/slideLayout" Target="../slideLayouts/p1_slideLayout10.xml"/><Relationship Id="rId11" Type="http://schemas.openxmlformats.org/officeDocument/2006/relationships/slideLayout" Target="../slideLayouts/p1_slideLayout11.xml"/><Relationship Id="rId12" Type="http://schemas.openxmlformats.org/officeDocument/2006/relationships/theme" Target="../theme/p1_theme1.xml"/><Relationship Id="rId13" Type="http://schemas.openxmlformats.org/officeDocument/2006/relationships/image" Target="../media/p1_image1.jpe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p1_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46829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</p:sldLayoutIdLst>
  <p:transition spd="slow">
    <p:push dir="u"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46829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  <p:sldLayoutId id="2147484201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9.xml"/><Relationship Id="rId2" Type="http://schemas.openxmlformats.org/officeDocument/2006/relationships/image" Target="../media/p1_image2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7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9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0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2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4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="" xmlns:a16="http://schemas.microsoft.com/office/drawing/2014/main" id="{1C7D5285-85DF-4331-A6FA-1AE847CA47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="" xmlns:a16="http://schemas.microsoft.com/office/drawing/2014/main" id="{40BF6865-7FAE-4B56-A995-ADF1582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E3984D70-BD95-4E1F-9725-902B5D7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09880449-0272-8F05-7B1A-C57BD6749C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02890" y="471948"/>
            <a:ext cx="9429135" cy="891095"/>
          </a:xfrm>
        </p:spPr>
        <p:txBody>
          <a:bodyPr>
            <a:no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VISVESVARAYA TECHNOLOGICAL UNIVERSITY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GOVERNMENT ENGINEERING COLLEGE RAMANAGARA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DEPARTMENT OF COMPUTER SCIENCE AND ENGINEERING</a:t>
            </a: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                        Project </a:t>
            </a:r>
            <a:r>
              <a:rPr lang="en-IN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Phase-2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                  </a:t>
            </a:r>
          </a:p>
          <a:p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="" xmlns:a16="http://schemas.microsoft.com/office/drawing/2014/main" id="{67267AD3-4177-82D6-38AB-1B8130BED6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761" y="2547257"/>
            <a:ext cx="10695038" cy="1146149"/>
          </a:xfrm>
        </p:spPr>
        <p:txBody>
          <a:bodyPr>
            <a:no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 BASED SMART COMMUNICATION SYSTEM 	                FOR SIGN LANGUAGE</a:t>
            </a: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Carried Out By:						Under The Guidance of: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Anupama G N               (1GG23CS007)                                                      Dr Chaya k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Darshan Divakar Naik   (1GG23CS016)                                                      Assistant professor</a:t>
            </a:r>
          </a:p>
          <a:p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Hithaishi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	         (1GG23CS021)                                                     Dept. of CSE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Keerthana H S               (1GG23CS026)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="" xmlns:a16="http://schemas.microsoft.com/office/drawing/2014/main" id="{75C8C67E-6A22-4966-88E7-50AEC980C08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1425" y="471948"/>
            <a:ext cx="1325900" cy="14542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="" xmlns:a16="http://schemas.microsoft.com/office/drawing/2014/main" id="{B9CC1577-1914-3B55-9FF0-E3D46C122AA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0284543" y="471948"/>
            <a:ext cx="1660482" cy="145429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73856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7862" y="504264"/>
            <a:ext cx="9607661" cy="1396180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="" xmlns:a16="http://schemas.microsoft.com/office/drawing/2014/main" id="{DD0487E1-2B64-A4E2-1555-17D1D0F24AB7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894735" y="2085110"/>
            <a:ext cx="10255046" cy="36897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is a fundamental human need, yet deaf and speech-impaired individuals face major barriers due to limited understanding of sign language among the general population.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Sign Language Recognition (SLR) systems use computer vision and deep learning to interpret hand gestures.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Our project focuses on real-time bidirectional communication: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Sign Language → Text + Voice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Speech/Text → Sign Language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Advances in Convolutional Neural Networks (CNN) and AI have made gesture recognition more accurate and practical. This system aims to bridge the communication gap and promote inclusivity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="" xmlns:p14="http://schemas.microsoft.com/office/powerpoint/2010/main" val="415169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B08A706-3644-2E5A-509C-E958BC90C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765191"/>
            <a:ext cx="9698002" cy="1049235"/>
          </a:xfrm>
        </p:spPr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9AA62CFD-D9CF-E502-4FF4-0283D84068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1736388"/>
            <a:ext cx="9058955" cy="1981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Develop a Vision-Based Smart Communication System for Sign Language Recognition that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hand gestures, recognizes sign language in real time using computer vision and AI, and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it into text or speech and also convert speech and text into sign animation to enable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 communication between sign language users and non-sign language users.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631255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C23A45-376B-5A03-4253-D7C1AA67B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FD34AFBD-08B7-5C1F-F842-E94A4036BE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30470" y="1339535"/>
            <a:ext cx="5775940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 real-time sign language detection system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Convert: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Hand gestures → Text + Speech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Speech/Text → Sign Language output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Works using camera (vision-based system)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No need for external hardware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Can be deployed as a mobile or web application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 Areas: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Hospitals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Education 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Public services 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Daily communication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64438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="" xmlns:a16="http://schemas.microsoft.com/office/drawing/2014/main" id="{209A8AC6-5047-E782-4584-754B3AE943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1" y="136525"/>
            <a:ext cx="9102430" cy="532069"/>
          </a:xfrm>
        </p:spPr>
        <p:txBody>
          <a:bodyPr>
            <a:normAutofit lnSpcReduction="10000"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ooter Placeholder 11">
            <a:extLst>
              <a:ext uri="{FF2B5EF4-FFF2-40B4-BE49-F238E27FC236}">
                <a16:creationId xmlns="" xmlns:a16="http://schemas.microsoft.com/office/drawing/2014/main" id="{F7C679D9-0859-A8E3-C0D5-CF376058C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EEEB4215-6310-5A56-78D0-B926CE4B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5823" y="709127"/>
          <a:ext cx="10823505" cy="506652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82109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95739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688841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612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080727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726163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744822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838657">
                <a:tc>
                  <a:txBody>
                    <a:bodyPr/>
                    <a:lstStyle/>
                    <a:p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SL</a:t>
                      </a:r>
                      <a:r>
                        <a:rPr lang="en-IN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NO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YEAR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  </a:t>
                      </a: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PAPER</a:t>
                      </a:r>
                      <a:r>
                        <a:rPr lang="en-US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MERITS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 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296955"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Thiruthi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Siva K,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Keerthan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TD,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Ajaya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HV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Two-Stage CNN for Sign Language to Speech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+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MediaPipe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+ TTS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High accuracy, real-time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Limited to alphabets, lighting 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259632"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Dr. K.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Haribabu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Pavithra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K,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Sowmya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Indian Sign Language Recognition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with preprocessing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Good accuracy, 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Only static gestures, background 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595535"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Banu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A., et 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Sign Language Classification using Neural 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trained on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Very high accuracy,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Needs large data, not dynamic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1576581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25151" y="410548"/>
          <a:ext cx="10804849" cy="516915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60356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9339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59391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283333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1576872">
                <a:tc>
                  <a:txBody>
                    <a:bodyPr/>
                    <a:lstStyle/>
                    <a:p>
                      <a:endParaRPr lang="en-IN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b="0" dirty="0"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b="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b="0" dirty="0" err="1">
                          <a:latin typeface="Times New Roman" pitchFamily="18" charset="0"/>
                          <a:cs typeface="Times New Roman" pitchFamily="18" charset="0"/>
                        </a:rPr>
                        <a:t>Ashwin</a:t>
                      </a: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 R., </a:t>
                      </a:r>
                      <a:r>
                        <a:rPr lang="en-US" sz="1800" b="0" dirty="0" err="1">
                          <a:latin typeface="Times New Roman" pitchFamily="18" charset="0"/>
                          <a:cs typeface="Times New Roman" pitchFamily="18" charset="0"/>
                        </a:rPr>
                        <a:t>Goutham</a:t>
                      </a: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 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Smart Assistive Gesture Recognition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CNN + hardware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Real-time, 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Complex hardware, less flexible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726163">
                <a:tc>
                  <a:txBody>
                    <a:bodyPr/>
                    <a:lstStyle/>
                    <a:p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Gokulkrishnan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Sign Language Recognition using Machine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ML with video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Real-time, user-friendly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Limited vocabulary, motion 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866123">
                <a:tc>
                  <a:txBody>
                    <a:bodyPr/>
                    <a:lstStyle/>
                    <a:p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6 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2024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Mohamed M., et 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Real-Time Gesture Recognition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Deep learning-based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Low cost, portable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Lower accuracy, poor generalization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1741378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8FB8DE7-3FAC-81E2-24FE-5ECC90899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/>
            </a:r>
            <a:br>
              <a:rPr lang="en-IN" b="1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1F8757F-479B-ADBC-BBB0-F803C8DC6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Glove-Based Systems</a:t>
            </a:r>
          </a:p>
          <a:p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sensors (flex sensors, accelerometers) </a:t>
            </a:r>
          </a:p>
          <a:p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accuracy but: </a:t>
            </a:r>
          </a:p>
          <a:p>
            <a:pPr lvl="1"/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Expensive </a:t>
            </a:r>
          </a:p>
          <a:p>
            <a:pPr lvl="1"/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user-friendly </a:t>
            </a:r>
          </a:p>
          <a:p>
            <a:pPr marL="0" indent="0">
              <a:buNone/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Vision-Based Systems</a:t>
            </a:r>
          </a:p>
          <a:p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camera + image processing </a:t>
            </a:r>
          </a:p>
          <a:p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Use: </a:t>
            </a:r>
          </a:p>
          <a:p>
            <a:pPr lvl="1"/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</a:t>
            </a:r>
          </a:p>
          <a:p>
            <a:pPr lvl="1"/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 landmarks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41900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529474A-6787-C6E2-C2A3-FA9AA3DBE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14002F9-A0D7-891F-CA75-BE892F248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noise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Lighting issues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gesture vocabulary 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IoT-Based Systems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 hardware + mobile apps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Issues: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scalability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Dependency on devices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816605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E2CB010-5F15-624A-7648-0F2B3E89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9EDA624-59D7-0AE2-2E2B-3F9573EB5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4900" b="1" dirty="0"/>
              <a:t> </a:t>
            </a: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Idea:</a:t>
            </a:r>
          </a:p>
          <a:p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AI-based bidirectional communication system</a:t>
            </a:r>
            <a:endParaRPr lang="en-IN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Modules:</a:t>
            </a:r>
          </a:p>
          <a:p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 → Text + Voice</a:t>
            </a: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gesture via camera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CNN / Deep Learning for classification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to text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text → speech (TTS) </a:t>
            </a:r>
          </a:p>
          <a:p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Speech/Text → Sign</a:t>
            </a: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 (voice input)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to text </a:t>
            </a:r>
          </a:p>
          <a:p>
            <a:pPr lvl="1"/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as sign animation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90175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F92F666-1014-405A-7959-B7162929B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B9A7966-79E7-A754-B2B2-FA88E6740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554" y="2062385"/>
            <a:ext cx="9603275" cy="345061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Processing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prediction (low latency)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gesture recognition 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Technologies Used: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 (OpenCV)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(CNN,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YOLO)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119029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1B42681-4CD7-4BE0-BA12-923CE010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02A0F5D5-DC5D-3570-2DBE-04B5816A71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1755879"/>
            <a:ext cx="4573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Support for continuous sentence recognition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regional languages (Kannada, Hindi, etc.)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accuracy using: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Transformer models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Multimodal learning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 as: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Mobile App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Wearable device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Smart assistants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AR/VR systems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96215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IN" dirty="0">
                <a:latin typeface="Times New Roman" pitchFamily="18" charset="0"/>
                <a:cs typeface="Times New Roman" pitchFamily="18" charset="0"/>
              </a:rPr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system</a:t>
            </a:r>
            <a:r>
              <a:rPr lang="en-IN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b="1" dirty="0">
                <a:latin typeface="Times New Roman" pitchFamily="18" charset="0"/>
                <a:cs typeface="Times New Roman" pitchFamily="18" charset="0"/>
              </a:rPr>
              <a:t>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Vision-based system for recognizing Indian Sign Language (ISL)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Captures sign gestures through a camera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Processes the captured hand images/frames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Identifies the corresponding sign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sign into understandable output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3568663" cy="1968250"/>
          </a:xfrm>
        </p:spPr>
        <p:txBody>
          <a:bodyPr/>
          <a:lstStyle/>
          <a:p>
            <a:r>
              <a:rPr lang="en-IN" b="1" dirty="0">
                <a:latin typeface="Times New Roman" pitchFamily="18" charset="0"/>
                <a:cs typeface="Times New Roman" pitchFamily="18" charset="0"/>
              </a:rPr>
              <a:t>SYSTEM</a:t>
            </a:r>
            <a:r>
              <a:rPr lang="en-IN" b="1" dirty="0"/>
              <a:t> </a:t>
            </a:r>
            <a:r>
              <a:rPr lang="en-IN" b="1" dirty="0">
                <a:latin typeface="Times New Roman" pitchFamily="18" charset="0"/>
                <a:cs typeface="Times New Roman" pitchFamily="18" charset="0"/>
              </a:rPr>
              <a:t>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Picture Placeholder 9" descr="SIGN.jpe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5944" r="25944"/>
          <a:stretch>
            <a:fillRect/>
          </a:stretch>
        </p:blipFill>
        <p:spPr bwMode="auto">
          <a:xfrm>
            <a:off x="5791200" y="160338"/>
            <a:ext cx="5938683" cy="5745765"/>
          </a:xfrm>
          <a:prstGeom prst="rect">
            <a:avLst/>
          </a:prstGeom>
          <a:noFill/>
        </p:spPr>
      </p:pic>
      <p:sp>
        <p:nvSpPr>
          <p:cNvPr id="28676" name="AutoShape 4" descr="blob:https://web.whatsapp.com/3106255e-8399-4a81-b322-f18bde9d0e6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1. Input Module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Captures hand movements through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webcam or uploaded video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for real-time or recorded input.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Sends video frames to the hand detection module for further processing.</a:t>
            </a:r>
          </a:p>
          <a:p>
            <a:endParaRPr lang="en-US" dirty="0"/>
          </a:p>
        </p:txBody>
      </p:sp>
      <p:pic>
        <p:nvPicPr>
          <p:cNvPr id="8" name="Content Placeholder 7" descr="sign4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2483" y="1941832"/>
            <a:ext cx="5001208" cy="3517641"/>
          </a:xfr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sz="3600" b="1" dirty="0">
                <a:latin typeface="Times New Roman" pitchFamily="18" charset="0"/>
                <a:cs typeface="Times New Roman" pitchFamily="18" charset="0"/>
              </a:rPr>
              <a:t>Detail design</a:t>
            </a:r>
            <a:br>
              <a:rPr lang="en-IN" sz="3600" b="1" dirty="0">
                <a:latin typeface="Times New Roman" pitchFamily="18" charset="0"/>
                <a:cs typeface="Times New Roman" pitchFamily="18" charset="0"/>
              </a:rPr>
            </a:br>
            <a:endParaRPr lang="en-US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2. Hand Detection Module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Uses </a:t>
            </a:r>
            <a:r>
              <a:rPr lang="en-US" b="1" dirty="0" err="1">
                <a:latin typeface="Times New Roman" pitchFamily="18" charset="0"/>
                <a:cs typeface="Times New Roman" pitchFamily="18" charset="0"/>
              </a:rPr>
              <a:t>MediaPipe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Hands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detect and track one or both hands and identify their handedness.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Provides the detected hand information for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hand gesture generation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8" name="Content Placeholder 7" descr="sign5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83560" y="1959429"/>
            <a:ext cx="5029200" cy="3666930"/>
          </a:xfrm>
        </p:spPr>
      </p:pic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298581"/>
            <a:ext cx="9605635" cy="1565614"/>
          </a:xfrm>
        </p:spPr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3. 3D Hand Gestures Module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Converts detected hand information into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representation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including fingers, joints, palm structure, movement, and orientation.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Supports both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static and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provides the representation for recognition and visualization.</a:t>
            </a:r>
            <a:endParaRPr lang="en-US" dirty="0"/>
          </a:p>
        </p:txBody>
      </p:sp>
      <p:pic>
        <p:nvPicPr>
          <p:cNvPr id="8" name="Content Placeholder 7" descr="sign6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99584" y="2015411"/>
            <a:ext cx="5058941" cy="3573625"/>
          </a:xfr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4. Dataset Collection &amp; Storage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Collects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gesture name/ID, signer ID, static/dynamic type, images/videos, and metadata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Uses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50 valid samples per sign for each team member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stores the collected gesture data systematically.</a:t>
            </a:r>
          </a:p>
          <a:p>
            <a:endParaRPr lang="en-US" dirty="0"/>
          </a:p>
        </p:txBody>
      </p:sp>
      <p:pic>
        <p:nvPicPr>
          <p:cNvPr id="8" name="Content Placeholder 7" descr="sign7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62262" y="1922106"/>
            <a:ext cx="5178489" cy="4058816"/>
          </a:xfr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5. Dataset Preprocessing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Checks data quality, removes invalid samples, handles missing data, and organizes samples by gesture class.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Maintains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frame sequences for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prepares the data for model training.</a:t>
            </a:r>
          </a:p>
          <a:p>
            <a:endParaRPr lang="en-US" dirty="0"/>
          </a:p>
        </p:txBody>
      </p:sp>
      <p:pic>
        <p:nvPicPr>
          <p:cNvPr id="8" name="Content Placeholder 7" descr="sign8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24940" y="2017713"/>
            <a:ext cx="5105540" cy="3711283"/>
          </a:xfrm>
        </p:spPr>
      </p:pic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6. Model Training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Uses an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ML classifier for static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LSTM/GRU/Transformer models for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Learns gesture patterns and maps them to the corresponding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ISL sign classes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8" name="Content Placeholder 7" descr="sign9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90254" y="1968759"/>
            <a:ext cx="5040226" cy="3984172"/>
          </a:xfrm>
        </p:spPr>
      </p:pic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7. Model Evaluation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Evaluates performance using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accuracy, precision, recall, F1-score, and confusion matrix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Measures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inference latency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ensure the system is suitable for real-time recognition.</a:t>
            </a:r>
          </a:p>
          <a:p>
            <a:endParaRPr lang="en-US" dirty="0"/>
          </a:p>
        </p:txBody>
      </p:sp>
      <p:pic>
        <p:nvPicPr>
          <p:cNvPr id="8" name="Content Placeholder 7" descr="sign10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36906" y="2017712"/>
            <a:ext cx="4993573" cy="3767267"/>
          </a:xfrm>
        </p:spPr>
      </p:pic>
    </p:spTree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8. Real-Time Recognition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Captures live webcam input, detects the hand, and generates the corresponding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hand gesture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Sends the gesture to the trained model and produces the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predicted ISL sign in real time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10" name="Content Placeholder 9" descr="sign12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50294" y="2017713"/>
            <a:ext cx="5234473" cy="3757936"/>
          </a:xfrm>
        </p:spPr>
      </p:pic>
    </p:spTree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9. Gesture Classification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Identifies the performed ISL gesture using the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trained recognition model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Maps the prediction to signs such as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HELLO, YES, THANK YOU, or NO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sends it to the output modules.</a:t>
            </a:r>
          </a:p>
          <a:p>
            <a:endParaRPr lang="en-US" dirty="0"/>
          </a:p>
        </p:txBody>
      </p:sp>
      <p:pic>
        <p:nvPicPr>
          <p:cNvPr id="8" name="Content Placeholder 7" descr="sign11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75649" y="2017713"/>
            <a:ext cx="5271795" cy="3580654"/>
          </a:xfr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10. Text Output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ISL gesture into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English and Kannada text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using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Google cloud Translation API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Displays the predicted meaning clearly on the application interface.</a:t>
            </a:r>
            <a:endParaRPr lang="en-US" dirty="0"/>
          </a:p>
        </p:txBody>
      </p:sp>
      <p:pic>
        <p:nvPicPr>
          <p:cNvPr id="8" name="Content Placeholder 7" descr="sign13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38327" y="2017713"/>
            <a:ext cx="5346439" cy="3673960"/>
          </a:xfrm>
        </p:spPr>
      </p:pic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11. 3D Hand Output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Displays the recognized gesture using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rigged and animated 3D hand model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Provides a visual representation of the sign for better understanding and verification.</a:t>
            </a:r>
          </a:p>
          <a:p>
            <a:endParaRPr lang="en-US" dirty="0"/>
          </a:p>
        </p:txBody>
      </p:sp>
      <p:pic>
        <p:nvPicPr>
          <p:cNvPr id="8" name="Content Placeholder 7" descr="sign14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8246" y="2017713"/>
            <a:ext cx="5012234" cy="3701952"/>
          </a:xfrm>
        </p:spPr>
      </p:pic>
    </p:spTree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Detail design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0" y="2010878"/>
            <a:ext cx="4756825" cy="3448595"/>
          </a:xfrm>
        </p:spPr>
        <p:txBody>
          <a:bodyPr/>
          <a:lstStyle/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12. Text-to-Speech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English/Kannada text into audible speech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using Google Cloud  TTS.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Provides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voice output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facilitate communication between ISL users and non-sign-language users.</a:t>
            </a:r>
            <a:endParaRPr lang="en-US" dirty="0"/>
          </a:p>
        </p:txBody>
      </p:sp>
      <p:pic>
        <p:nvPicPr>
          <p:cNvPr id="8" name="Content Placeholder 7" descr="sign15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78286" y="2017712"/>
            <a:ext cx="5215812" cy="3645969"/>
          </a:xfrm>
        </p:spPr>
      </p:pic>
    </p:spTree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IN" b="1" dirty="0">
                <a:latin typeface="Times New Roman" pitchFamily="18" charset="0"/>
                <a:cs typeface="Times New Roman" pitchFamily="18" charset="0"/>
              </a:rPr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System requirement specification</a:t>
            </a:r>
            <a:endParaRPr lang="en-US" dirty="0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3250413235"/>
              </p:ext>
            </p:extLst>
          </p:nvPr>
        </p:nvGraphicFramePr>
        <p:xfrm>
          <a:off x="1465005" y="2005780"/>
          <a:ext cx="10638798" cy="405399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54626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54626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54626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Model/Technology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What it does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Where we use it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lang="en-IN" sz="2000" b="1" dirty="0" err="1">
                          <a:latin typeface="Times New Roman" pitchFamily="18" charset="0"/>
                          <a:cs typeface="Times New Roman" pitchFamily="18" charset="0"/>
                        </a:rPr>
                        <a:t>MediaPipe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hand </a:t>
                      </a:r>
                      <a:r>
                        <a:rPr lang="en-IN" sz="2000" b="0" baseline="0" dirty="0" err="1">
                          <a:latin typeface="Times New Roman" pitchFamily="18" charset="0"/>
                          <a:cs typeface="Times New Roman" pitchFamily="18" charset="0"/>
                        </a:rPr>
                        <a:t>landmarker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Detects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the hand and extracts 21 landmarks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Input  -&gt; landmark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extraction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316856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3D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hand rig /GLB model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3D hand model with a bones and joints that allows the fingers and hand to move realistically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21 landmark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-&gt; 3D Hand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819929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Feature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normalization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Makes 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land marks data consistent , improving accuracy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Before training for reduce noise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819929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ML classifier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Learns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which landmark pattern corresponds to which ISL sign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Used for static sign recognition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/>
            </a:r>
            <a:br>
              <a:rPr lang="en-IN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>System requirements specification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1027769683"/>
              </p:ext>
            </p:extLst>
          </p:nvPr>
        </p:nvGraphicFramePr>
        <p:xfrm>
          <a:off x="1399591" y="2164702"/>
          <a:ext cx="9638523" cy="39319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21284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284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12841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1258773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Long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Short-Term Memory(LSTM) / Gated Recurrent Unit (GRU)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Types of RNNs designed to understand sequential data &amp; Learns movement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patterns across multiple frames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Used for dynamic-sign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recognition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855303039"/>
                  </a:ext>
                </a:extLst>
              </a:tr>
              <a:tr h="1258773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Three.js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JavaScript 3D graphics library used to displays 3D animation directly 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in the browser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3D visualization and recognize the hand movement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285932">
                <a:tc>
                  <a:txBody>
                    <a:bodyPr/>
                    <a:lstStyle/>
                    <a:p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Cloud Text-to-Speech (TTS)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Cloud-based service that converts </a:t>
                      </a:r>
                      <a:r>
                        <a:rPr lang="en-GB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text into natural-sounding speech</a:t>
                      </a:r>
                      <a:r>
                        <a:rPr lang="en-GB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using AI-generated voices.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 </a:t>
                      </a:r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voicing (text → speech)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8232879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8647276-F502-4009-A858-DC21E91B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526144"/>
            <a:ext cx="9603275" cy="1049235"/>
          </a:xfrm>
        </p:spPr>
        <p:txBody>
          <a:bodyPr>
            <a:normAutofit fontScale="90000"/>
          </a:bodyPr>
          <a:lstStyle/>
          <a:p>
            <a:r>
              <a:rPr lang="en-GB" dirty="0"/>
              <a:t/>
            </a:r>
            <a:br>
              <a:rPr lang="en-GB" dirty="0"/>
            </a:br>
            <a:r>
              <a:rPr lang="en-IN" b="1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IN" b="1" dirty="0">
                <a:latin typeface="Times New Roman" pitchFamily="18" charset="0"/>
                <a:cs typeface="Times New Roman" pitchFamily="18" charset="0"/>
              </a:rPr>
            </a:br>
            <a:r>
              <a:rPr lang="en-IN" sz="3600" b="1" dirty="0">
                <a:latin typeface="Times New Roman" pitchFamily="18" charset="0"/>
                <a:cs typeface="Times New Roman" pitchFamily="18" charset="0"/>
              </a:rPr>
              <a:t>System</a:t>
            </a:r>
            <a:r>
              <a:rPr lang="en-IN" b="1" dirty="0">
                <a:latin typeface="Times New Roman" pitchFamily="18" charset="0"/>
                <a:cs typeface="Times New Roman" pitchFamily="18" charset="0"/>
              </a:rPr>
              <a:t> requirement specification</a:t>
            </a:r>
            <a:endParaRPr lang="en-IN" dirty="0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xmlns="" id="{93C6B542-F6F1-48BD-BB40-6C2DDBA498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2311154260"/>
              </p:ext>
            </p:extLst>
          </p:nvPr>
        </p:nvGraphicFramePr>
        <p:xfrm>
          <a:off x="1450975" y="2016125"/>
          <a:ext cx="9604374" cy="100584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201458">
                  <a:extLst>
                    <a:ext uri="{9D8B030D-6E8A-4147-A177-3AD203B41FA5}">
                      <a16:colId xmlns:a16="http://schemas.microsoft.com/office/drawing/2014/main" xmlns="" val="2112303055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xmlns="" val="713485930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xmlns="" val="10799840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Times New Roman" pitchFamily="18" charset="0"/>
                          <a:cs typeface="Times New Roman" pitchFamily="18" charset="0"/>
                        </a:rPr>
                        <a:t>Google cloud Translation API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can translate the recognized English meaning into </a:t>
                      </a:r>
                      <a:r>
                        <a:rPr lang="en-GB" sz="20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kannada</a:t>
                      </a:r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text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English – Kannada translation of text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15729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1295035817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ADVANCED GESTURE SEGMENTATION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Continuous Gesture Communication: Drop-to-Commit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18872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SOLVING THE CONTINUOUS SIGNING CHALLENGE (Guide's Essential Requirement)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Traditional models predict isolated words on single frames, creating repeated character flooding. G2T2G introduces an automated continuous staging buffer that segments multi-word sentences fluently without requiring touch interactions.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</a:defRPr>
            </a:pPr>
            <a:r>
              <a:t>1. Multi-Frame Stability Filter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Requires 3 consecutive matching predictions before staging a gesture, filtering transitional hand motion between signs.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92608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1089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2. Anti-Duplication Suppression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Once a gesture is staged, repeated predictions of that sign are suppressed to prevent spamming identical 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A580C"/>
                </a:solidFill>
              </a:defRPr>
            </a:pPr>
            <a:r>
              <a:t>3. Visual Staged Phrase Dock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Renders live interactive badge chips (e.g. [GOOD] + [MORNING]) directly on the camera overlay.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75488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9377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4. Hand Drop-to-Commit Trigger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When hands relax or drop below the camera frame, the buffer auto-commits the full phrase into audio &amp; text.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DATASET SPECIFICATION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Dataset Collection &amp; Multi-Signer Distribution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188720"/>
                <a:gridCol w="1280160"/>
                <a:gridCol w="1280160"/>
              </a:tblGrid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Raw DB Rows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Excluded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Retained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Classes Trained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Static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4,774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11 (book)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4,763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27 (A–Z, super)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Dynamic Gestures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2,702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 (empty)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2,696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18 Words/Phrases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Total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7,476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7,459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45 ISL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463040"/>
            <a:ext cx="3840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64592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</a:defRPr>
            </a:pPr>
            <a:r>
              <a:t>MULTI-SIGNER INTEGRITY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1GG23CS007 (Anupama G N)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Master reference signer, 239 static / 132 dynamic test samples.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1GG23CS016 (Darshan Divakar Naik)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Static dataset validation contributor.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1GG23CS021 (Hithaishi M)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240 static / 133 dynamic test samples.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1GG23CS026 (Keerthana H 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214 static / 140 dynamic test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658368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7490"/>
                </a:solidFill>
              </a:defRPr>
            </a:pPr>
            <a:r>
              <a:t>Rigorous Data Hygiene &amp; Protocol: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50 valid samples captured per sign for each team member (as per project methodology).</a:t>
            </a:r>
            <a:br/>
            <a:r>
              <a:t>• Stratified sampling: 70% Training / 15% Validation / 15% Held-Out Test.</a:t>
            </a:r>
            <a:br/>
            <a:r>
              <a:t>• Scaler parameters fitted strictly on training data to avoid data leakage.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MACHINE LEARNING EVALUATION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Model Training &amp; Multi-Model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6400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67926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Static Test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Dynamic Test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Naive Baseline (Majority)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5.68%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Logistic Regression (L2)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99.16%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0.006 ms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★ Champion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Extra Trees (250 trees)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0.178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Random Forest (200 trees)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0.141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MLP Neural Net (256x128)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Soft-Voting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0.353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STATISTICAL RIGOR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Model Evaluation &amp; Confusion Matrices</a:t>
            </a:r>
          </a:p>
        </p:txBody>
      </p:sp>
      <p:pic>
        <p:nvPicPr>
          <p:cNvPr id="3" name="Picture 2" descr="stati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206240" cy="3605349"/>
          </a:xfrm>
          <a:prstGeom prst="rect">
            <a:avLst/>
          </a:prstGeom>
        </p:spPr>
      </p:pic>
      <p:pic>
        <p:nvPicPr>
          <p:cNvPr id="4" name="Picture 3" descr="dynamic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4206240" cy="344146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509760" y="1463040"/>
            <a:ext cx="2011680" cy="475488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20" y="1645920"/>
            <a:ext cx="1737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DD4BF"/>
                </a:solidFill>
              </a:defRPr>
            </a:pPr>
            <a:r>
              <a:t>STATISTICAL RIGOR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95% Bootstrap CI: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Static: [98.4%, 99.9%]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Dynamic: [100%, 100%]</a:t>
            </a:r>
          </a:p>
          <a:p>
            <a:pPr>
              <a:defRPr sz="950">
                <a:solidFill>
                  <a:srgbClr val="94A3B8"/>
                </a:solidFill>
              </a:defRPr>
            </a:pP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Precision &amp; Recall: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Near-zero off-diagonal confusion across 45 classes.</a:t>
            </a:r>
          </a:p>
          <a:p>
            <a:pPr>
              <a:defRPr sz="950">
                <a:solidFill>
                  <a:srgbClr val="94A3B8"/>
                </a:solidFill>
              </a:defRPr>
            </a:pP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Inference Speed: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0.006 ms static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0.010 ms dynamic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Sub-second real time.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MODEL VALIDATION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Cross-Signer Slice Analysis &amp; Generalization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7490"/>
                </a:solidFill>
              </a:defRPr>
            </a:pPr>
            <a:r>
              <a:t>VERIFYING ZERO DEMOGRAPHIC OR HAND GEOMETRY BIAS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To ensure the system generalizes to new unseen signers, evaluation was sliced across team members on strictly held-out test splits. All signers achieved between 97.5% and 100%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74320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Signer ID / Name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1GG23CS007 (Anupama G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1GG23CS016 (Darshan Divakar Naik)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1GG23CS021 (Hithaishi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1GG23CS026 (Keerthana H 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E7490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SYSTEM IMPLEMENTATION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Live Application Modules &amp; UI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7490"/>
                </a:solidFill>
              </a:defRPr>
            </a:pPr>
            <a:r>
              <a:t>1. Normal / Hearing Studio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Speech &amp; Text Composition: Type message or speak via live microphone.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Quick-Phrase Chips: Instant triggers for Hello, Thank you, Food, Morning, Water.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Dual-Confirmation Output: Shows authentic master signer reference video above, and live 3D skeletal avatar below.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Missing Gesture Prompt: Alerts if a word is not in dataset and offers to perform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2. Sign User Studio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High-Speed Live Camera: Real-time 21-landmark tracking overlay.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Continuous Signing Banner: Displays staged phrase badge chips in real time.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Drop-to-Commit: Automatically transmits text &amp; audio when hands lower.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Bilingual TTS Voice: Automatically speaks English or Kannada (pitch: 1.15, rate: 1.08).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EA580C"/>
                </a:solidFill>
              </a:defRPr>
            </a:pPr>
            <a:r>
              <a:t>3. Continuous Live Chat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Unified Split Screen: Chat thread on the LEFT; visual outputs on the RIGHT.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Upper Right: Master Signer video &amp; live webcam recognition.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Lower Right: Interactive 3D Avatar with 0.1x to 1.5x speed controls.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Unobstructed Canvas: Captions &amp; sequence steppers placed strictly below video canvas.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TESTING &amp; VALIDATION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System Testing &amp; Performance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E7490"/>
                </a:solidFill>
              </a:defRPr>
            </a:pPr>
            <a:r>
              <a:t>Unit &amp; Component Testing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Verified MediaPipe 21-joint extraction across varying lighting conditions.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Confirmed Web Speech STT and TTS voice output across multiple browsers.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Three.js WebGL landmark playback at 0.1x, 0.5x, 1.0x, and 1.5x.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D9488"/>
                </a:solidFill>
              </a:defRPr>
            </a:pPr>
            <a:r>
              <a:t>Continuous Integration &amp; Regression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Anti-duplication regression tests: Zero repetitive false-positive triggers.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Staged phrase buffer verification: Successfully assembles multi-word phrases.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Drop-to-commit boundary checks: Verified seamless auto-commit on hand exit.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Latency &amp; Frame Rate Benchmarks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Camera capture &amp; landmark extraction: ~16.6 ms (Steady 60 FPS).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ML Classification latency: 0.006 ms (Static) / 0.010 ms (Dynamic).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Total end-to-end pipeline latency: &lt;50 ms (Virtually imperceptible delay).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A580C"/>
                </a:solidFill>
              </a:defRPr>
            </a:pPr>
            <a:r>
              <a:t>Cross-Device &amp; Network Verification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on standard Windows 11 laptop webcam.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on mobile browsers via Cloudflare secure tunnel.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Bilingual validation: 100% verified translation accuracy between English and Kannada.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DISTINCT INNOVATIONS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Key Novelties &amp; Advantages of G2T2G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</a:defRPr>
            </a:pPr>
            <a:r>
              <a:t>1. Continuous Communication Buffer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Replaces clunky isolated word detection with smooth multi-word sentence formation triggered by natural hand drop-to-commit.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2. Dual Visual Feedback Synthesis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Combines verified human signer video with customizable Three.js 3D avatar skeletons for maximum visual clarity.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</a:defRPr>
            </a:pPr>
            <a:r>
              <a:t>3. Truly Accessible &amp; Cost-Free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Zero sensor gloves, zero Kinect depth cameras. Runs in standard web browsers on any commodity laptop or smartphone.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4. Bilingual Inclusivity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Seamlessly supports English and regional Kannada (ಕನ್ನಡ) text and voice, promoting linguistic accessibility.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</a:defRPr>
            </a:pPr>
            <a:r>
              <a:t>5. Self-Expanding Vocabulary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In-app missing gesture detection invites users to perform and save new signs, enabling crowd-powered database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6. Production-Grade Sub-Millisecond Speed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Logistic Regression L2 champion model delivers 99.16% test accuracy in 0.006 ms per sample.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E7490"/>
                </a:solidFill>
              </a:defRPr>
            </a:pPr>
            <a:r>
              <a:t>SUMMARY OF WORK DONE</a:t>
            </a:r>
          </a:p>
          <a:p>
            <a:pPr>
              <a:defRPr sz="2200" b="1">
                <a:solidFill>
                  <a:srgbClr val="13233A"/>
                </a:solidFill>
              </a:defRPr>
            </a:pPr>
            <a:r>
              <a:t>Conclusion &amp; Phase-2 Achievements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E7490"/>
                </a:solidFill>
              </a:defRPr>
            </a:pPr>
            <a:r>
              <a:t>PHASE-2 OUTCOMES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Successfully engineered a complete vision-based bidirectional Indian Sign Language communication framework.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Built a robust, sub-50ms pipeline running directly on standard commodity webcams and browsers.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Achieved 99.16% static accuracy and 100% dynamic accuracy across 45 ISL classes with zero signer bias.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Successfully implemented our Guide's recommendation for continuous sentence signing with drop-to-commit segmentation.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D9488"/>
                </a:solidFill>
              </a:defRPr>
            </a:pPr>
            <a:r>
              <a:t>FUTURE WORK PLAN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Facial Expression Tracking: Integrate MediaPipe Face Mesh to capture grammatical markers in ISL.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Vocabulary Expansion: Scale dataset to 500+ daily conversational signs across multiple regional dialects.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Native Mobile Application: Package as an offline mobile application (Flutter / PWA) for on-device signing.</a:t>
            </a:r>
          </a:p>
          <a:p>
            <a:pPr>
              <a:spcAft>
                <a:spcPts val="1000"/>
              </a:spcAft>
              <a:defRPr sz="1150">
                <a:solidFill>
                  <a:srgbClr val="0F172A"/>
                </a:solidFill>
              </a:defRPr>
            </a:pPr>
            <a:r>
              <a:t>• AR Smart Glasses Integration: Projection of 3D ISL avatar onto heads-up displays for hands-free dialogue.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914400"/>
            <a:ext cx="9445752" cy="502920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1188720"/>
            <a:ext cx="88971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2DD4BF"/>
                </a:solidFill>
              </a:defRPr>
            </a:pPr>
            <a:r>
              <a:t>THANK YOU</a:t>
            </a:r>
          </a:p>
          <a:p>
            <a:pPr algn="ctr">
              <a:spcAft>
                <a:spcPts val="1600"/>
              </a:spcAft>
              <a:defRPr sz="2000" b="1">
                <a:solidFill>
                  <a:srgbClr val="FFFFFF"/>
                </a:solidFill>
              </a:defRPr>
            </a:pPr>
            <a:r>
              <a:t>Questions &amp; Answers / Discussion</a:t>
            </a:r>
          </a:p>
          <a:p>
            <a:pPr algn="ctr">
              <a:defRPr sz="1300" b="1">
                <a:solidFill>
                  <a:srgbClr val="F59E0B"/>
                </a:solidFill>
              </a:defRPr>
            </a:pPr>
            <a:r>
              <a:t>VISION BASED SMART COMMUNICATION SYSTEM FOR SIGN LANGUAGE</a:t>
            </a:r>
          </a:p>
          <a:p>
            <a:pPr algn="ctr">
              <a:spcAft>
                <a:spcPts val="1400"/>
              </a:spcAft>
              <a:defRPr sz="1150">
                <a:solidFill>
                  <a:srgbClr val="94A3B8"/>
                </a:solidFill>
              </a:defRPr>
            </a:pPr>
            <a:r>
              <a:t>Government Engineering College Ramanagara | Department of CSE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Under the Guidance of: Dr. Chaya K, Assistant Professor, Dept. of CSE</a:t>
            </a:r>
          </a:p>
          <a:p>
            <a:pPr algn="ctr">
              <a:spcAft>
                <a:spcPts val="1400"/>
              </a:spcAft>
              <a:defRPr sz="1050">
                <a:solidFill>
                  <a:srgbClr val="CBD5E1"/>
                </a:solidFill>
              </a:defRPr>
            </a:pPr>
            <a:r>
              <a:t>Team: Anupama G N (1GG23CS007) | Darshan Divakar Naik (1GG23CS016) | Hithaishi M (1GG23CS021) | Keerthana H S (1GG23CS026)</a:t>
            </a:r>
          </a:p>
          <a:p>
            <a:pPr algn="ctr">
              <a:defRPr sz="1200" b="1">
                <a:solidFill>
                  <a:srgbClr val="2DD4BF"/>
                </a:solidFill>
              </a:defRPr>
            </a:pPr>
            <a:r>
              <a:t>★ Live Interactive Demonstration Ready for Panel Evaluation ★</a:t>
            </a:r>
          </a:p>
        </p:txBody>
      </p:sp>
    </p:spTree>
  </p:cSld>
  <p:clrMapOvr>
    <a:masterClrMapping/>
  </p:clrMapOvr>
</p:sld>
</file>

<file path=ppt/theme/p1_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allery" id="{BBFCD31E-59A1-489D-B089-A3EAD7CAE12E}" vid="{F5E91637-A7B6-4E27-B710-77DA7014EE1E}"/>
    </a:ext>
  </a:extLst>
</a:theme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358</TotalTime>
  <Words>553</Words>
  <Application>Microsoft Office PowerPoint</Application>
  <PresentationFormat>Custom</PresentationFormat>
  <Paragraphs>171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Gallery</vt:lpstr>
      <vt:lpstr>Slide 1</vt:lpstr>
      <vt:lpstr>  INTRODUCTION</vt:lpstr>
      <vt:lpstr> PROBLEM STATEMENT</vt:lpstr>
      <vt:lpstr> SCOPE OF THE PROJECT</vt:lpstr>
      <vt:lpstr>Slide 5</vt:lpstr>
      <vt:lpstr>Slide 6</vt:lpstr>
      <vt:lpstr> EXISTING SYSTEM</vt:lpstr>
      <vt:lpstr> EXISTING SYSTEM</vt:lpstr>
      <vt:lpstr> PROPOSED SYSTEM</vt:lpstr>
      <vt:lpstr> PROPOSED SYSTEM</vt:lpstr>
      <vt:lpstr> FUTURE SCOPE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keeruk70@gmail.com</dc:creator>
  <cp:lastModifiedBy>user</cp:lastModifiedBy>
  <cp:revision>17</cp:revision>
  <dcterms:created xsi:type="dcterms:W3CDTF">2026-04-06T13:16:19Z</dcterms:created>
  <dcterms:modified xsi:type="dcterms:W3CDTF">2026-10-29T13:01:00Z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