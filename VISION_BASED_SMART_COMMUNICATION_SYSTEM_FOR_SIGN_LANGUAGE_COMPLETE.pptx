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p1_slideLayout1.xml" ContentType="application/vnd.openxmlformats-officedocument.presentationml.slideLayout+xml"/>
  <Override PartName="/ppt/slideLayouts/p1_slideLayout10.xml" ContentType="application/vnd.openxmlformats-officedocument.presentationml.slideLayout+xml"/>
  <Override PartName="/ppt/slideLayouts/p1_slideLayout11.xml" ContentType="application/vnd.openxmlformats-officedocument.presentationml.slideLayout+xml"/>
  <Override PartName="/ppt/slideLayouts/p1_slideLayout2.xml" ContentType="application/vnd.openxmlformats-officedocument.presentationml.slideLayout+xml"/>
  <Override PartName="/ppt/slideLayouts/p1_slideLayout3.xml" ContentType="application/vnd.openxmlformats-officedocument.presentationml.slideLayout+xml"/>
  <Override PartName="/ppt/slideLayouts/p1_slideLayout4.xml" ContentType="application/vnd.openxmlformats-officedocument.presentationml.slideLayout+xml"/>
  <Override PartName="/ppt/slideLayouts/p1_slideLayout5.xml" ContentType="application/vnd.openxmlformats-officedocument.presentationml.slideLayout+xml"/>
  <Override PartName="/ppt/slideLayouts/p1_slideLayout6.xml" ContentType="application/vnd.openxmlformats-officedocument.presentationml.slideLayout+xml"/>
  <Override PartName="/ppt/slideLayouts/p1_slideLayout7.xml" ContentType="application/vnd.openxmlformats-officedocument.presentationml.slideLayout+xml"/>
  <Override PartName="/ppt/slideLayouts/p1_slideLayout8.xml" ContentType="application/vnd.openxmlformats-officedocument.presentationml.slideLayout+xml"/>
  <Override PartName="/ppt/slideLayouts/p1_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p1_slideMaster1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p1_theme1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4189" r:id="rId4"/>
    <p:sldMasterId id="2147484190" r:id="rId26"/>
  </p:sldMasterIdLst>
  <p:notesMasterIdLst>
    <p:notesMasterId r:id="rId16"/>
  </p:notesMasterIdLst>
  <p:handoutMasterIdLst>
    <p:handoutMasterId r:id="rId17"/>
  </p:handoutMasterIdLst>
  <p:sldIdLst>
    <p:sldId id="256" r:id="rId27"/>
    <p:sldId id="257" r:id="rId28"/>
    <p:sldId id="258" r:id="rId29"/>
    <p:sldId id="259" r:id="rId30"/>
    <p:sldId id="260" r:id="rId31"/>
    <p:sldId id="261" r:id="rId32"/>
    <p:sldId id="262" r:id="rId33"/>
    <p:sldId id="263" r:id="rId34"/>
    <p:sldId id="264" r:id="rId35"/>
    <p:sldId id="265" r:id="rId36"/>
    <p:sldId id="266" r:id="rId37"/>
    <p:sldId id="267" r:id="rId38"/>
    <p:sldId id="268" r:id="rId39"/>
    <p:sldId id="269" r:id="rId40"/>
    <p:sldId id="270" r:id="rId41"/>
    <p:sldId id="271" r:id="rId42"/>
    <p:sldId id="272" r:id="rId43"/>
    <p:sldId id="273" r:id="rId44"/>
    <p:sldId id="274" r:id="rId45"/>
    <p:sldId id="275" r:id="rId46"/>
    <p:sldId id="276" r:id="rId47"/>
    <p:sldId id="277" r:id="rId48"/>
    <p:sldId id="278" r:id="rId49"/>
    <p:sldId id="279" r:id="rId50"/>
    <p:sldId id="280" r:id="rId51"/>
    <p:sldId id="281" r:id="rId52"/>
    <p:sldId id="282" r:id="rId53"/>
    <p:sldId id="283" r:id="rId54"/>
    <p:sldId id="284" r:id="rId24"/>
    <p:sldId id="285" r:id="rId23"/>
    <p:sldId id="286" r:id="rId15"/>
    <p:sldId id="287" r:id="rId14"/>
    <p:sldId id="288" r:id="rId13"/>
    <p:sldId id="289" r:id="rId12"/>
    <p:sldId id="290" r:id="rId11"/>
    <p:sldId id="291" r:id="rId10"/>
    <p:sldId id="292" r:id="rId9"/>
    <p:sldId id="29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=""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=""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="" xmlns:p14="http://schemas.microsoft.com/office/powerpoint/2010/main">
          <a:srgbClr val="FF0000"/>
        </p14:laserClr>
      </p:ext>
      <p:ext uri="{2FDB2607-1784-4EEB-B798-7EB5836EED8A}">
        <p14:showMediaCtrls xmlns=""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="" xmlns:p14="http://schemas.microsoft.com/office/powerpoint/2010/main" val="0"/>
    </p:ext>
    <p:ext uri="{D31A062A-798A-4329-ABDD-BBA856620510}">
      <p14:defaultImageDpi xmlns="" xmlns:p14="http://schemas.microsoft.com/office/powerpoint/2010/main" val="32767"/>
    </p:ext>
    <p:ext uri="{FD5EFAAD-0ECE-453E-9831-46B23BE46B34}">
      <p15:chartTrackingRefBased xmlns=""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1651" autoAdjust="0"/>
    <p:restoredTop sz="94609" autoAdjust="0"/>
  </p:normalViewPr>
  <p:slideViewPr>
    <p:cSldViewPr snapToGrid="0">
      <p:cViewPr varScale="1">
        <p:scale>
          <a:sx n="82" d="100"/>
          <a:sy n="82" d="100"/>
        </p:scale>
        <p:origin x="-874" y="-91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8" Type="http://schemas.openxmlformats.org/officeDocument/2006/relationships/slide" Target="slides/slide38.xml"/><Relationship Id="rId9" Type="http://schemas.openxmlformats.org/officeDocument/2006/relationships/slide" Target="slides/slide37.xml"/><Relationship Id="rId10" Type="http://schemas.openxmlformats.org/officeDocument/2006/relationships/slide" Target="slides/slide36.xml"/><Relationship Id="rId11" Type="http://schemas.openxmlformats.org/officeDocument/2006/relationships/slide" Target="slides/slide35.xml"/><Relationship Id="rId12" Type="http://schemas.openxmlformats.org/officeDocument/2006/relationships/slide" Target="slides/slide34.xml"/><Relationship Id="rId13" Type="http://schemas.openxmlformats.org/officeDocument/2006/relationships/slide" Target="slides/slide33.xml"/><Relationship Id="rId14" Type="http://schemas.openxmlformats.org/officeDocument/2006/relationships/slide" Target="slides/slide32.xml"/><Relationship Id="rId15" Type="http://schemas.openxmlformats.org/officeDocument/2006/relationships/slide" Target="slides/slide3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commentAuthors" Target="commentAuthors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30.xml"/><Relationship Id="rId24" Type="http://schemas.openxmlformats.org/officeDocument/2006/relationships/slide" Target="slides/slide29.xml"/><Relationship Id="rId25" Type="http://schemas.microsoft.com/office/2018/10/relationships/authors" Target="authors.xml"/><Relationship Id="rId26" Type="http://schemas.openxmlformats.org/officeDocument/2006/relationships/slideMaster" Target="slideMasters/p1_slideMaster1.xml"/><Relationship Id="rId27" Type="http://schemas.openxmlformats.org/officeDocument/2006/relationships/slide" Target="slides/slide1.xml"/><Relationship Id="rId28" Type="http://schemas.openxmlformats.org/officeDocument/2006/relationships/slide" Target="slides/slide2.xml"/><Relationship Id="rId29" Type="http://schemas.openxmlformats.org/officeDocument/2006/relationships/slide" Target="slides/slide3.xml"/><Relationship Id="rId30" Type="http://schemas.openxmlformats.org/officeDocument/2006/relationships/slide" Target="slides/slide4.xml"/><Relationship Id="rId31" Type="http://schemas.openxmlformats.org/officeDocument/2006/relationships/slide" Target="slides/slide5.xml"/><Relationship Id="rId32" Type="http://schemas.openxmlformats.org/officeDocument/2006/relationships/slide" Target="slides/slide6.xml"/><Relationship Id="rId33" Type="http://schemas.openxmlformats.org/officeDocument/2006/relationships/slide" Target="slides/slide7.xml"/><Relationship Id="rId34" Type="http://schemas.openxmlformats.org/officeDocument/2006/relationships/slide" Target="slides/slide8.xml"/><Relationship Id="rId35" Type="http://schemas.openxmlformats.org/officeDocument/2006/relationships/slide" Target="slides/slide9.xml"/><Relationship Id="rId36" Type="http://schemas.openxmlformats.org/officeDocument/2006/relationships/slide" Target="slides/slide10.xml"/><Relationship Id="rId37" Type="http://schemas.openxmlformats.org/officeDocument/2006/relationships/slide" Target="slides/slide11.xml"/><Relationship Id="rId38" Type="http://schemas.openxmlformats.org/officeDocument/2006/relationships/slide" Target="slides/slide12.xml"/><Relationship Id="rId39" Type="http://schemas.openxmlformats.org/officeDocument/2006/relationships/slide" Target="slides/slide13.xml"/><Relationship Id="rId40" Type="http://schemas.openxmlformats.org/officeDocument/2006/relationships/slide" Target="slides/slide14.xml"/><Relationship Id="rId41" Type="http://schemas.openxmlformats.org/officeDocument/2006/relationships/slide" Target="slides/slide15.xml"/><Relationship Id="rId42" Type="http://schemas.openxmlformats.org/officeDocument/2006/relationships/slide" Target="slides/slide16.xml"/><Relationship Id="rId43" Type="http://schemas.openxmlformats.org/officeDocument/2006/relationships/slide" Target="slides/slide17.xml"/><Relationship Id="rId44" Type="http://schemas.openxmlformats.org/officeDocument/2006/relationships/slide" Target="slides/slide18.xml"/><Relationship Id="rId45" Type="http://schemas.openxmlformats.org/officeDocument/2006/relationships/slide" Target="slides/slide19.xml"/><Relationship Id="rId46" Type="http://schemas.openxmlformats.org/officeDocument/2006/relationships/slide" Target="slides/slide20.xml"/><Relationship Id="rId47" Type="http://schemas.openxmlformats.org/officeDocument/2006/relationships/slide" Target="slides/slide21.xml"/><Relationship Id="rId48" Type="http://schemas.openxmlformats.org/officeDocument/2006/relationships/slide" Target="slides/slide22.xml"/><Relationship Id="rId49" Type="http://schemas.openxmlformats.org/officeDocument/2006/relationships/slide" Target="slides/slide23.xml"/><Relationship Id="rId50" Type="http://schemas.openxmlformats.org/officeDocument/2006/relationships/slide" Target="slides/slide24.xml"/><Relationship Id="rId51" Type="http://schemas.openxmlformats.org/officeDocument/2006/relationships/slide" Target="slides/slide25.xml"/><Relationship Id="rId52" Type="http://schemas.openxmlformats.org/officeDocument/2006/relationships/slide" Target="slides/slide26.xml"/><Relationship Id="rId53" Type="http://schemas.openxmlformats.org/officeDocument/2006/relationships/slide" Target="slides/slide27.xml"/><Relationship Id="rId54" Type="http://schemas.openxmlformats.org/officeDocument/2006/relationships/slide" Target="slides/slide28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pPr/>
              <a:t>10/29/2026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pPr/>
              <a:t>10/29/2026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p1_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p1_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p1_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p1_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458252190"/>
      </p:ext>
    </p:extLst>
  </p:cSld>
  <p:clrMapOvr>
    <a:masterClrMapping/>
  </p:clrMapOvr>
  <p:transition spd="slow">
    <p:push dir="u"/>
  </p:transition>
</p:sldLayout>
</file>

<file path=ppt/slideLayouts/p1_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033230880"/>
      </p:ext>
    </p:extLst>
  </p:cSld>
  <p:clrMapOvr>
    <a:masterClrMapping/>
  </p:clrMapOvr>
  <p:transition spd="slow">
    <p:push dir="u"/>
  </p:transition>
  <p:hf hdr="0"/>
</p:sldLayout>
</file>

<file path=ppt/slideLayouts/p1_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929481326"/>
      </p:ext>
    </p:extLst>
  </p:cSld>
  <p:clrMapOvr>
    <a:masterClrMapping/>
  </p:clrMapOvr>
  <p:transition spd="slow">
    <p:push dir="u"/>
  </p:transition>
  <p:hf hdr="0"/>
</p:sldLayout>
</file>

<file path=ppt/slideLayouts/p1_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4123013593"/>
      </p:ext>
    </p:extLst>
  </p:cSld>
  <p:clrMapOvr>
    <a:masterClrMapping/>
  </p:clrMapOvr>
  <p:transition spd="slow">
    <p:push dir="u"/>
  </p:transition>
  <p:hf hdr="0"/>
</p:sldLayout>
</file>

<file path=ppt/slideLayouts/p1_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189427826"/>
      </p:ext>
    </p:extLst>
  </p:cSld>
  <p:clrMapOvr>
    <a:masterClrMapping/>
  </p:clrMapOvr>
  <p:transition spd="slow">
    <p:push dir="u"/>
  </p:transition>
  <p:hf hdr="0"/>
</p:sldLayout>
</file>

<file path=ppt/slideLayouts/p1_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176408731"/>
      </p:ext>
    </p:extLst>
  </p:cSld>
  <p:clrMapOvr>
    <a:masterClrMapping/>
  </p:clrMapOvr>
  <p:transition spd="slow">
    <p:push dir="u"/>
  </p:transition>
  <p:hf hdr="0"/>
</p:sldLayout>
</file>

<file path=ppt/slideLayouts/p1_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xmlns="" val="3134476762"/>
      </p:ext>
    </p:extLst>
  </p:cSld>
  <p:clrMapOvr>
    <a:masterClrMapping/>
  </p:clrMapOvr>
  <p:transition spd="slow">
    <p:push dir="u"/>
  </p:transition>
  <p:hf hdr="0"/>
</p:sldLayout>
</file>

<file path=ppt/slideLayouts/p1_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3669810387"/>
      </p:ext>
    </p:extLst>
  </p:cSld>
  <p:clrMapOvr>
    <a:masterClrMapping/>
  </p:clrMapOvr>
  <p:transition spd="slow">
    <p:push dir="u"/>
  </p:transition>
  <p:hf hdr="0"/>
</p:sldLayout>
</file>

<file path=ppt/slideLayouts/p1_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2371609789"/>
      </p:ext>
    </p:extLst>
  </p:cSld>
  <p:clrMapOvr>
    <a:masterClrMapping/>
  </p:clrMapOvr>
  <p:transition spd="slow">
    <p:push dir="u"/>
  </p:transition>
  <p:hf hdr="0"/>
</p:sldLayout>
</file>

<file path=ppt/slideLayouts/p1_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750085832"/>
      </p:ext>
    </p:extLst>
  </p:cSld>
  <p:clrMapOvr>
    <a:masterClrMapping/>
  </p:clrMapOvr>
  <p:transition spd="slow">
    <p:push dir="u"/>
  </p:transition>
  <p:hf hdr="0"/>
</p:sldLayout>
</file>

<file path=ppt/slideLayouts/p1_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4149463864"/>
      </p:ext>
    </p:extLst>
  </p:cSld>
  <p:clrMapOvr>
    <a:masterClrMapping/>
  </p:clrMapOvr>
  <p:transition spd="slow">
    <p:push dir="u"/>
  </p:transition>
  <p:hf hdr="0"/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10/29/2026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4582521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033230880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929481326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4123013593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2189427826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2176408731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3134476762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3669810387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2371609789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750085832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4149463864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=""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Text Placeholder 15">
            <a:extLst>
              <a:ext uri="{FF2B5EF4-FFF2-40B4-BE49-F238E27FC236}">
                <a16:creationId xmlns=""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>
            <a:extLst>
              <a:ext uri="{FF2B5EF4-FFF2-40B4-BE49-F238E27FC236}">
                <a16:creationId xmlns=""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=""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5">
            <a:extLst>
              <a:ext uri="{FF2B5EF4-FFF2-40B4-BE49-F238E27FC236}">
                <a16:creationId xmlns=""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5" name="Text Placeholder 15">
            <a:extLst>
              <a:ext uri="{FF2B5EF4-FFF2-40B4-BE49-F238E27FC236}">
                <a16:creationId xmlns=""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6" name="Text Placeholder 15">
            <a:extLst>
              <a:ext uri="{FF2B5EF4-FFF2-40B4-BE49-F238E27FC236}">
                <a16:creationId xmlns=""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37" name="Text Placeholder 15">
            <a:extLst>
              <a:ext uri="{FF2B5EF4-FFF2-40B4-BE49-F238E27FC236}">
                <a16:creationId xmlns=""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/>
          <a:lstStyle>
            <a:lvl1pPr algn="l"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="" xmlns:p14="http://schemas.microsoft.com/office/powerpoint/2010/main" val="2658810611"/>
      </p:ext>
    </p:extLst>
  </p:cSld>
  <p:clrMapOvr>
    <a:masterClrMapping/>
  </p:clrMapOvr>
</p:sldLayout>
</file>

<file path=ppt/slideMasters/_rels/p1_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1.xml"/><Relationship Id="rId2" Type="http://schemas.openxmlformats.org/officeDocument/2006/relationships/slideLayout" Target="../slideLayouts/p1_slideLayout2.xml"/><Relationship Id="rId3" Type="http://schemas.openxmlformats.org/officeDocument/2006/relationships/slideLayout" Target="../slideLayouts/p1_slideLayout3.xml"/><Relationship Id="rId4" Type="http://schemas.openxmlformats.org/officeDocument/2006/relationships/slideLayout" Target="../slideLayouts/p1_slideLayout4.xml"/><Relationship Id="rId5" Type="http://schemas.openxmlformats.org/officeDocument/2006/relationships/slideLayout" Target="../slideLayouts/p1_slideLayout5.xml"/><Relationship Id="rId6" Type="http://schemas.openxmlformats.org/officeDocument/2006/relationships/slideLayout" Target="../slideLayouts/p1_slideLayout6.xml"/><Relationship Id="rId7" Type="http://schemas.openxmlformats.org/officeDocument/2006/relationships/slideLayout" Target="../slideLayouts/p1_slideLayout7.xml"/><Relationship Id="rId8" Type="http://schemas.openxmlformats.org/officeDocument/2006/relationships/slideLayout" Target="../slideLayouts/p1_slideLayout8.xml"/><Relationship Id="rId9" Type="http://schemas.openxmlformats.org/officeDocument/2006/relationships/slideLayout" Target="../slideLayouts/p1_slideLayout9.xml"/><Relationship Id="rId10" Type="http://schemas.openxmlformats.org/officeDocument/2006/relationships/slideLayout" Target="../slideLayouts/p1_slideLayout10.xml"/><Relationship Id="rId11" Type="http://schemas.openxmlformats.org/officeDocument/2006/relationships/slideLayout" Target="../slideLayouts/p1_slideLayout11.xml"/><Relationship Id="rId12" Type="http://schemas.openxmlformats.org/officeDocument/2006/relationships/theme" Target="../theme/p1_theme1.xml"/><Relationship Id="rId13" Type="http://schemas.openxmlformats.org/officeDocument/2006/relationships/image" Target="../media/p1_image1.jpeg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jpeg"/></Relationships>
</file>

<file path=ppt/slideMasters/p1_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xmlns="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xmlns="" val="1468294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90" r:id="rId1"/>
    <p:sldLayoutId id="2147484191" r:id="rId2"/>
    <p:sldLayoutId id="2147484192" r:id="rId3"/>
    <p:sldLayoutId id="2147484193" r:id="rId4"/>
    <p:sldLayoutId id="2147484194" r:id="rId5"/>
    <p:sldLayoutId id="2147484195" r:id="rId6"/>
    <p:sldLayoutId id="2147484196" r:id="rId7"/>
    <p:sldLayoutId id="2147484197" r:id="rId8"/>
    <p:sldLayoutId id="2147484198" r:id="rId9"/>
    <p:sldLayoutId id="2147484199" r:id="rId10"/>
    <p:sldLayoutId id="2147484200" r:id="rId11"/>
  </p:sldLayoutIdLst>
  <p:transition spd="slow">
    <p:push dir="u"/>
  </p:transition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4">
            <a:extLst>
              <a:ext uri="{28A0092B-C50C-407E-A947-70E740481C1C}">
                <a14:useLocalDpi xmlns=""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="" xmlns:p14="http://schemas.microsoft.com/office/powerpoint/2010/main" val="14682943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90" r:id="rId1"/>
    <p:sldLayoutId id="2147484191" r:id="rId2"/>
    <p:sldLayoutId id="2147484192" r:id="rId3"/>
    <p:sldLayoutId id="2147484193" r:id="rId4"/>
    <p:sldLayoutId id="2147484194" r:id="rId5"/>
    <p:sldLayoutId id="2147484195" r:id="rId6"/>
    <p:sldLayoutId id="2147484196" r:id="rId7"/>
    <p:sldLayoutId id="2147484197" r:id="rId8"/>
    <p:sldLayoutId id="2147484198" r:id="rId9"/>
    <p:sldLayoutId id="2147484199" r:id="rId10"/>
    <p:sldLayoutId id="2147484200" r:id="rId11"/>
    <p:sldLayoutId id="2147484201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2.jpeg"/><Relationship Id="rId3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9.xml"/><Relationship Id="rId2" Type="http://schemas.openxmlformats.org/officeDocument/2006/relationships/image" Target="../media/p1_image2.jpe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7.jpe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8.jpe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9.jpe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10.jpe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11.jpe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12.jpe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13.jpe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4.xml"/><Relationship Id="rId2" Type="http://schemas.openxmlformats.org/officeDocument/2006/relationships/image" Target="../media/p1_image14.jpe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p1_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8">
            <a:extLst>
              <a:ext uri="{FF2B5EF4-FFF2-40B4-BE49-F238E27FC236}">
                <a16:creationId xmlns="" xmlns:a16="http://schemas.microsoft.com/office/drawing/2014/main" id="{1C7D5285-85DF-4331-A6FA-1AE847CA47A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pPr>
              <a:defRPr>
                <a:latin typeface="Segoe UI"/>
              </a:defRPr>
            </a:pPr>
            <a:endParaRPr lang="en-US" dirty="0"/>
          </a:p>
          <a:p>
            <a:pPr>
              <a:defRPr>
                <a:latin typeface="Segoe UI"/>
              </a:defRPr>
            </a:pP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="" xmlns:a16="http://schemas.microsoft.com/office/drawing/2014/main" id="{40BF6865-7FAE-4B56-A995-ADF1582DC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>
                <a:latin typeface="Segoe UI"/>
              </a:defRPr>
            </a:pPr>
            <a:r>
              <a:rPr lang="en-US" dirty="0"/>
              <a:t>20XX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="" xmlns:a16="http://schemas.microsoft.com/office/drawing/2014/main" id="{E3984D70-BD95-4E1F-9725-902B5D74DE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>
                <a:latin typeface="Segoe UI"/>
              </a:defRPr>
            </a:pPr>
            <a:fld id="{B5CEABB6-07DC-46E8-9B57-56EC44A396E5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="" xmlns:a16="http://schemas.microsoft.com/office/drawing/2014/main" id="{09880449-0272-8F05-7B1A-C57BD6749C1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02890" y="471948"/>
            <a:ext cx="9429135" cy="891095"/>
          </a:xfrm>
        </p:spPr>
        <p:txBody>
          <a:bodyPr>
            <a:noAutofit/>
          </a:bodyPr>
          <a:lstStyle/>
          <a:p>
            <a:pPr>
              <a:defRPr>
                <a:latin typeface="Segoe UI"/>
              </a:defRPr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VISVESVARAYA TECHNOLOGICAL UNIVERSITY</a:t>
            </a:r>
          </a:p>
          <a:p>
            <a:pPr>
              <a:defRPr>
                <a:latin typeface="Segoe UI"/>
              </a:defRPr>
            </a:pPr>
            <a:r>
              <a:rPr lang="en-IN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GOVERNMENT ENGINEERING COLLEGE RAMANAGARA</a:t>
            </a:r>
          </a:p>
          <a:p>
            <a:pPr>
              <a:defRPr>
                <a:latin typeface="Segoe UI"/>
              </a:defRPr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DEPARTMENT OF COMPUTER SCIENCE AND ENGINEERING</a:t>
            </a:r>
          </a:p>
          <a:p>
            <a:pPr>
              <a:defRPr>
                <a:latin typeface="Segoe UI"/>
              </a:defRPr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                              Project </a:t>
            </a:r>
            <a:r>
              <a:rPr lang="en-IN" sz="18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Phase-2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>
                <a:latin typeface="Segoe UI"/>
              </a:defRPr>
            </a:pPr>
            <a:r>
              <a:rPr lang="en-IN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                        </a:t>
            </a:r>
          </a:p>
          <a:p>
            <a:pPr>
              <a:defRPr>
                <a:latin typeface="Segoe UI"/>
              </a:defRPr>
            </a:pP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>
                <a:latin typeface="Segoe UI"/>
              </a:defRPr>
            </a:pP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" name="Text Placeholder 20">
            <a:extLst>
              <a:ext uri="{FF2B5EF4-FFF2-40B4-BE49-F238E27FC236}">
                <a16:creationId xmlns="" xmlns:a16="http://schemas.microsoft.com/office/drawing/2014/main" id="{67267AD3-4177-82D6-38AB-1B8130BED61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8761" y="2547257"/>
            <a:ext cx="10695038" cy="1146149"/>
          </a:xfrm>
        </p:spPr>
        <p:txBody>
          <a:bodyPr>
            <a:noAutofit/>
          </a:bodyPr>
          <a:lstStyle/>
          <a:p>
            <a:pPr>
              <a:defRPr>
                <a:latin typeface="Segoe UI"/>
              </a:defRPr>
            </a:pPr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VISION BASED SMART COMMUNICATION SYSTEM 	                FOR SIGN LANGUAGE</a:t>
            </a:r>
          </a:p>
          <a:p>
            <a:pPr>
              <a:defRPr>
                <a:latin typeface="Segoe UI"/>
              </a:defRPr>
            </a:pPr>
            <a:r>
              <a:rPr lang="en-I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Carried Out By:						Under The Guidance of:</a:t>
            </a:r>
          </a:p>
          <a:p>
            <a:pPr>
              <a:defRPr>
                <a:latin typeface="Segoe UI"/>
              </a:defRPr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Anupama G N               (1GG23CS007)                                                      Dr Chaya k</a:t>
            </a:r>
          </a:p>
          <a:p>
            <a:pPr>
              <a:defRPr>
                <a:latin typeface="Segoe UI"/>
              </a:defRPr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Darshan Divakar Naik   (1GG23CS016)                                                      Assistant professor</a:t>
            </a:r>
          </a:p>
          <a:p>
            <a:pPr>
              <a:defRPr>
                <a:latin typeface="Segoe UI"/>
              </a:defRPr>
            </a:pPr>
            <a:r>
              <a:rPr lang="en-IN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Hithaishi</a:t>
            </a: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	         (1GG23CS021)                                                     Dept. of CSE</a:t>
            </a:r>
          </a:p>
          <a:p>
            <a:pPr>
              <a:defRPr>
                <a:latin typeface="Segoe UI"/>
              </a:defRPr>
            </a:pPr>
            <a: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Keerthana H S               (1GG23CS026)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="" xmlns:a16="http://schemas.microsoft.com/office/drawing/2014/main" id="{75C8C67E-6A22-4966-88E7-50AEC980C08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1425" y="471948"/>
            <a:ext cx="1325900" cy="1454297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="" xmlns:a16="http://schemas.microsoft.com/office/drawing/2014/main" id="{B9CC1577-1914-3B55-9FF0-E3D46C122AA9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10284543" y="471948"/>
            <a:ext cx="1660482" cy="1454297"/>
          </a:xfrm>
          <a:prstGeom prst="rect">
            <a:avLst/>
          </a:prstGeom>
        </p:spPr>
      </p:pic>
    </p:spTree>
    <p:extLst>
      <p:ext uri="{BB962C8B-B14F-4D97-AF65-F5344CB8AC3E}">
        <p14:creationId xmlns="" xmlns:p14="http://schemas.microsoft.com/office/powerpoint/2010/main" val="1738561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="" xmlns:a16="http://schemas.microsoft.com/office/drawing/2014/main" id="{FAD2AE59-5630-4D5C-83A9-4CDEF4D7D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>
            <a:normAutofit fontScale="90000"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INTRODUCTION</a:t>
            </a:r>
          </a:p>
        </p:txBody>
      </p:sp>
      <p:sp>
        <p:nvSpPr>
          <p:cNvPr id="10" name="Rectangle 1">
            <a:extLst>
              <a:ext uri="{FF2B5EF4-FFF2-40B4-BE49-F238E27FC236}">
                <a16:creationId xmlns="" xmlns:a16="http://schemas.microsoft.com/office/drawing/2014/main" id="{DD0487E1-2B64-A4E2-1555-17D1D0F24AB7}"/>
              </a:ext>
            </a:extLst>
          </p:cNvPr>
          <p:cNvSpPr>
            <a:spLocks noGrp="1" noChangeArrowheads="1"/>
          </p:cNvSpPr>
          <p:nvPr>
            <p:ph sz="half" idx="2"/>
          </p:nvPr>
        </p:nvSpPr>
        <p:spPr bwMode="auto">
          <a:xfrm>
            <a:off x="894735" y="2085110"/>
            <a:ext cx="10255046" cy="36897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Wingdings" panose="05000000000000000000" pitchFamily="2" charset="2"/>
              <a:buChar char="§"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 is a fundamental human need, yet deaf and speech-impaired individuals face major barriers due to limited understanding of sign language among the general population.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Wingdings" panose="05000000000000000000" pitchFamily="2" charset="2"/>
              <a:buChar char="§"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Sign Language Recognition (SLR) systems use computer vision and deep learning to interpret hand gestures.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Wingdings" panose="05000000000000000000" pitchFamily="2" charset="2"/>
              <a:buChar char="§"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Our project focuses on real-time bidirectional communication: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Wingdings" panose="05000000000000000000" pitchFamily="2" charset="2"/>
              <a:buChar char="§"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Sign Language → Text + Voice 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Wingdings" panose="05000000000000000000" pitchFamily="2" charset="2"/>
              <a:buChar char="§"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Speech/Text → Sign Language</a:t>
            </a:r>
          </a:p>
          <a:p>
            <a:pPr lvl="1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Wingdings" panose="05000000000000000000" pitchFamily="2" charset="2"/>
              <a:buChar char="§"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Advances in Convolutional Neural Networks (CNN) and AI have made gesture recognition more accurate and practical. This system aims to bridge the communication gap and promote inclusivity</a:t>
            </a:r>
            <a:r>
              <a:rPr kumimoji="0" lang="en-US" altLang="en-US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</p:txBody>
      </p:sp>
    </p:spTree>
    <p:extLst>
      <p:ext uri="{BB962C8B-B14F-4D97-AF65-F5344CB8AC3E}">
        <p14:creationId xmlns="" xmlns:p14="http://schemas.microsoft.com/office/powerpoint/2010/main" val="41516945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B08A706-3644-2E5A-509C-E958BC90C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PROBLEM STATEMENT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="" xmlns:a16="http://schemas.microsoft.com/office/drawing/2014/main" id="{9AA62CFD-D9CF-E502-4FF4-0283D84068F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51579" y="1736388"/>
            <a:ext cx="9058955" cy="1981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Develop a Vision-Based Smart Communication System for Sign Language Recognition that 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captures hand gestures, recognizes sign language in real time using computer vision and AI, and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converts it into text or speech and also convert speech and text into sign animation to enable </a:t>
            </a:r>
          </a:p>
          <a:p>
            <a:pPr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alt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effective communication between sign language users and non-sign language users.</a:t>
            </a: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6312551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FC23A45-376B-5A03-4253-D7C1AA67B5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SCOPE OF THE PROJECT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="" xmlns:a16="http://schemas.microsoft.com/office/drawing/2014/main" id="{FD34AFBD-08B7-5C1F-F842-E94A4036BEF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30470" y="1339535"/>
            <a:ext cx="5775940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en-US" sz="18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 typeface="Wingdings" panose="05000000000000000000" pitchFamily="2" charset="2"/>
              <a:buChar char="§"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Develop a real-time sign language detection system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Convert: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Hand gestures → Text + Speech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       Speech/Text → Sign Language output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§"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Features: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Works using camera (vision-based system)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No need for external hardware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Can be deployed as a mobile or web application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endParaRPr kumimoji="0" lang="en-US" altLang="en-US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§"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Application Areas: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Hospitals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Education 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Public services  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      Daily communication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38644380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="" xmlns:a16="http://schemas.microsoft.com/office/drawing/2014/main" id="{209A8AC6-5047-E782-4584-754B3AE943D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>
            <a:normAutofit lnSpcReduction="10000"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LITERATURE REVIEW</a:t>
            </a:r>
          </a:p>
        </p:txBody>
      </p:sp>
      <p:sp>
        <p:nvSpPr>
          <p:cNvPr id="12" name="Footer Placeholder 11">
            <a:extLst>
              <a:ext uri="{FF2B5EF4-FFF2-40B4-BE49-F238E27FC236}">
                <a16:creationId xmlns="" xmlns:a16="http://schemas.microsoft.com/office/drawing/2014/main" id="{F7C679D9-0859-A8E3-C0D5-CF376058C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/>
              <a:t>Pitch Deck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="" xmlns:a16="http://schemas.microsoft.com/office/drawing/2014/main" id="{EEEB4215-6310-5A56-78D0-B926CE4B71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defRPr sz="1500" b="1">
                <a:solidFill>
                  <a:srgbClr val="0E7490"/>
                </a:solidFill>
                <a:latin typeface="Segoe UI"/>
              </a:defRPr>
            </a:pPr>
            <a:fld id="{B5CEABB6-07DC-46E8-9B57-56EC44A396E5}" type="slidenum">
              <a:rPr lang="en-US" smtClean="0"/>
              <a:pPr/>
              <a:t>5</a:t>
            </a:fld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5823" y="709127"/>
          <a:ext cx="10823505" cy="5066522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821091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895739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1688841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1866122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2080727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726163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744822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</a:tblGrid>
              <a:tr h="838657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endParaRPr lang="en-IN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SL</a:t>
                      </a:r>
                      <a:r>
                        <a:rPr lang="en-IN" sz="1800" baseline="0" dirty="0">
                          <a:latin typeface="Times New Roman" pitchFamily="18" charset="0"/>
                          <a:cs typeface="Times New Roman" pitchFamily="18" charset="0"/>
                        </a:rPr>
                        <a:t> NO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IN" sz="1800" baseline="0" dirty="0">
                          <a:latin typeface="Times New Roman" pitchFamily="18" charset="0"/>
                          <a:cs typeface="Times New Roman" pitchFamily="18" charset="0"/>
                        </a:rPr>
                        <a:t>   </a:t>
                      </a:r>
                    </a:p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YEAR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    </a:t>
                      </a:r>
                    </a:p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 AUTHORS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 </a:t>
                      </a:r>
                    </a:p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PAPER</a:t>
                      </a:r>
                      <a:r>
                        <a:rPr lang="en-US" sz="1800" baseline="0" dirty="0">
                          <a:latin typeface="Times New Roman" pitchFamily="18" charset="0"/>
                          <a:cs typeface="Times New Roman" pitchFamily="18" charset="0"/>
                        </a:rPr>
                        <a:t> 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TITLE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METHODOLOGY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  MERITS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    GAP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296955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1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2025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Thiruthi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Siva K, </a:t>
                      </a: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Keerthan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TD, </a:t>
                      </a: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Ajaya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HV 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Two-Stage CNN for Sign Language to Speech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CNN + </a:t>
                      </a: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MediaPipe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+ TTS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High accuracy, real-time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Limited to alphabets, lighting issues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259632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2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2025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Dr. K. </a:t>
                      </a: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Haribabu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, </a:t>
                      </a: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Pavithra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K, </a:t>
                      </a: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Sowmya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Indian Sign Language Recognition System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CNN with preprocessing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Good accuracy, simple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Only static gestures, background issues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  <a:tr h="1595535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3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2025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Banu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A., et 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Sign Language Classification using Neural Networks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CNN trained on dataset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Very high accuracy, fast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Needs large data, not dynamic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="" xmlns:p14="http://schemas.microsoft.com/office/powerpoint/2010/main" val="15765819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25151" y="410548"/>
          <a:ext cx="10804849" cy="5169158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603565">
                  <a:extLst>
                    <a:ext uri="{9D8B030D-6E8A-4147-A177-3AD203B41FA5}">
                      <a16:colId xmlns="" xmlns:a16="http://schemas.microsoft.com/office/drawing/2014/main" val="20000"/>
                    </a:ext>
                  </a:extLst>
                </a:gridCol>
                <a:gridCol w="693391">
                  <a:extLst>
                    <a:ext uri="{9D8B030D-6E8A-4147-A177-3AD203B41FA5}">
                      <a16:colId xmlns="" xmlns:a16="http://schemas.microsoft.com/office/drawing/2014/main" val="20001"/>
                    </a:ext>
                  </a:extLst>
                </a:gridCol>
                <a:gridCol w="2593910">
                  <a:extLst>
                    <a:ext uri="{9D8B030D-6E8A-4147-A177-3AD203B41FA5}">
                      <a16:colId xmlns="" xmlns:a16="http://schemas.microsoft.com/office/drawing/2014/main" val="20002"/>
                    </a:ext>
                  </a:extLst>
                </a:gridCol>
                <a:gridCol w="2283333">
                  <a:extLst>
                    <a:ext uri="{9D8B030D-6E8A-4147-A177-3AD203B41FA5}">
                      <a16:colId xmlns="" xmlns:a16="http://schemas.microsoft.com/office/drawing/2014/main" val="20003"/>
                    </a:ext>
                  </a:extLst>
                </a:gridCol>
                <a:gridCol w="1543550">
                  <a:extLst>
                    <a:ext uri="{9D8B030D-6E8A-4147-A177-3AD203B41FA5}">
                      <a16:colId xmlns="" xmlns:a16="http://schemas.microsoft.com/office/drawing/2014/main" val="20004"/>
                    </a:ext>
                  </a:extLst>
                </a:gridCol>
                <a:gridCol w="1543550">
                  <a:extLst>
                    <a:ext uri="{9D8B030D-6E8A-4147-A177-3AD203B41FA5}">
                      <a16:colId xmlns="" xmlns:a16="http://schemas.microsoft.com/office/drawing/2014/main" val="20005"/>
                    </a:ext>
                  </a:extLst>
                </a:gridCol>
                <a:gridCol w="1543550">
                  <a:extLst>
                    <a:ext uri="{9D8B030D-6E8A-4147-A177-3AD203B41FA5}">
                      <a16:colId xmlns="" xmlns:a16="http://schemas.microsoft.com/office/drawing/2014/main" val="20006"/>
                    </a:ext>
                  </a:extLst>
                </a:gridCol>
              </a:tblGrid>
              <a:tr h="157687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endParaRPr lang="en-IN" sz="18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IN" sz="1800" b="0" dirty="0">
                          <a:latin typeface="Times New Roman" pitchFamily="18" charset="0"/>
                          <a:cs typeface="Times New Roman" pitchFamily="18" charset="0"/>
                        </a:rPr>
                        <a:t>4</a:t>
                      </a:r>
                      <a:endParaRPr lang="en-US" sz="18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endParaRPr lang="en-IN" sz="18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IN" sz="1800" b="0" dirty="0">
                          <a:latin typeface="Times New Roman" pitchFamily="18" charset="0"/>
                          <a:cs typeface="Times New Roman" pitchFamily="18" charset="0"/>
                        </a:rPr>
                        <a:t>2025</a:t>
                      </a:r>
                      <a:endParaRPr lang="en-US" sz="18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endParaRPr lang="en-US" sz="18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1800" b="0" dirty="0" err="1">
                          <a:latin typeface="Times New Roman" pitchFamily="18" charset="0"/>
                          <a:cs typeface="Times New Roman" pitchFamily="18" charset="0"/>
                        </a:rPr>
                        <a:t>Ashwin</a:t>
                      </a:r>
                      <a:r>
                        <a:rPr lang="en-US" sz="1800" b="0" dirty="0">
                          <a:latin typeface="Times New Roman" pitchFamily="18" charset="0"/>
                          <a:cs typeface="Times New Roman" pitchFamily="18" charset="0"/>
                        </a:rPr>
                        <a:t> R., </a:t>
                      </a:r>
                      <a:r>
                        <a:rPr lang="en-US" sz="1800" b="0" dirty="0" err="1">
                          <a:latin typeface="Times New Roman" pitchFamily="18" charset="0"/>
                          <a:cs typeface="Times New Roman" pitchFamily="18" charset="0"/>
                        </a:rPr>
                        <a:t>Goutham</a:t>
                      </a:r>
                      <a:r>
                        <a:rPr lang="en-US" sz="1800" b="0" dirty="0">
                          <a:latin typeface="Times New Roman" pitchFamily="18" charset="0"/>
                          <a:cs typeface="Times New Roman" pitchFamily="18" charset="0"/>
                        </a:rPr>
                        <a:t> S. 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1800" b="0" dirty="0">
                          <a:latin typeface="Times New Roman" pitchFamily="18" charset="0"/>
                          <a:cs typeface="Times New Roman" pitchFamily="18" charset="0"/>
                        </a:rPr>
                        <a:t>Smart Assistive Gesture Recognition System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1800" b="0" dirty="0">
                          <a:latin typeface="Times New Roman" pitchFamily="18" charset="0"/>
                          <a:cs typeface="Times New Roman" pitchFamily="18" charset="0"/>
                        </a:rPr>
                        <a:t>CNN + hardware integration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1800" b="0" dirty="0">
                          <a:latin typeface="Times New Roman" pitchFamily="18" charset="0"/>
                          <a:cs typeface="Times New Roman" pitchFamily="18" charset="0"/>
                        </a:rPr>
                        <a:t>Real-time, multimodal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1800" b="0" dirty="0">
                          <a:latin typeface="Times New Roman" pitchFamily="18" charset="0"/>
                          <a:cs typeface="Times New Roman" pitchFamily="18" charset="0"/>
                        </a:rPr>
                        <a:t>Complex hardware, less flexible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0"/>
                  </a:ext>
                </a:extLst>
              </a:tr>
              <a:tr h="1726163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endParaRPr lang="en-IN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5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endParaRPr lang="en-IN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2025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 err="1">
                          <a:latin typeface="Times New Roman" pitchFamily="18" charset="0"/>
                          <a:cs typeface="Times New Roman" pitchFamily="18" charset="0"/>
                        </a:rPr>
                        <a:t>Gokulkrishnan</a:t>
                      </a: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 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Sign Language Recognition using Machine Learning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ML with video 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Real-time, user-friendly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Limited vocabulary, motion issues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1"/>
                  </a:ext>
                </a:extLst>
              </a:tr>
              <a:tr h="1866123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endParaRPr lang="en-IN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6 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endParaRPr lang="en-IN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1800" dirty="0">
                          <a:latin typeface="Times New Roman" pitchFamily="18" charset="0"/>
                          <a:cs typeface="Times New Roman" pitchFamily="18" charset="0"/>
                        </a:rPr>
                        <a:t>2024</a:t>
                      </a: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endParaRPr lang="en-US" sz="1800" dirty="0">
                        <a:latin typeface="Times New Roman" pitchFamily="18" charset="0"/>
                        <a:cs typeface="Times New Roman" pitchFamily="18" charset="0"/>
                      </a:endParaRPr>
                    </a:p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Mohamed M., et al.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Real-Time Gesture Recognition System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Deep learning-based model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Low cost, portable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US" sz="1800" dirty="0">
                          <a:latin typeface="Times New Roman" pitchFamily="18" charset="0"/>
                          <a:cs typeface="Times New Roman" pitchFamily="18" charset="0"/>
                        </a:rPr>
                        <a:t>Lower accuracy, poor generalization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=""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097280" y="502920"/>
            <a:ext cx="99943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LITERATURE REVIEW (CONTD.)</a:t>
            </a:r>
          </a:p>
        </p:txBody>
      </p:sp>
    </p:spTree>
    <p:extLst>
      <p:ext uri="{BB962C8B-B14F-4D97-AF65-F5344CB8AC3E}">
        <p14:creationId xmlns="" xmlns:p14="http://schemas.microsoft.com/office/powerpoint/2010/main" val="1741378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38FB8DE7-3FAC-81E2-24FE-5ECC908990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EXISTING SYSTEM: TYPES &amp;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1F8757F-479B-ADBC-BBB0-F803C8DC6F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 fontScale="25000" lnSpcReduction="20000"/>
          </a:bodyPr>
          <a:lstStyle/>
          <a:p>
            <a:pPr marL="0" indent="0"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Glove-Based Systems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sensors (flex sensors, accelerometers) </a:t>
            </a:r>
          </a:p>
          <a:p>
            <a:pPr>
              <a:spcAft>
                <a:spcPts val="600"/>
              </a:spcAft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accuracy but: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Expensive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user-friendly </a:t>
            </a:r>
          </a:p>
          <a:p>
            <a:pPr marL="0" indent="0"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IN" sz="7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Vision-Based Systems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camera + image processing </a:t>
            </a:r>
          </a:p>
          <a:p>
            <a:pPr>
              <a:spcAft>
                <a:spcPts val="600"/>
              </a:spcAft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Use: </a:t>
            </a:r>
          </a:p>
          <a:p>
            <a:pPr lvl="1">
              <a:spcAft>
                <a:spcPts val="600"/>
              </a:spcAft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CNN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7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 landmarks 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419004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529474A-6787-C6E2-C2A3-FA9AA3DBE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EXISTING SYSTEM: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814002F9-A0D7-891F-CA75-BE892F248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 fontScale="92500" lnSpcReduction="20000"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Limitations: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 noise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Lighting issues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gesture vocabulary </a:t>
            </a:r>
          </a:p>
          <a:p>
            <a:pPr marL="0" indent="0"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IoT-Based Systems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Combine hardware + mobile apps </a:t>
            </a:r>
          </a:p>
          <a:p>
            <a:pPr>
              <a:spcAft>
                <a:spcPts val="600"/>
              </a:spcAft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Issues: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scalability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Dependency on devices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2816605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DE2CB010-5F15-624A-7648-0F2B3E891E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PROPOSED SYSTEM: BIDIRECTIONAL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79EDA624-59D7-0AE2-2E2B-3F9573EB51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>
            <a:normAutofit fontScale="25000" lnSpcReduction="20000"/>
          </a:bodyPr>
          <a:lstStyle/>
          <a:p>
            <a:pPr marL="0" indent="0"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IN" sz="4900" b="1" dirty="0"/>
              <a:t> </a:t>
            </a:r>
            <a:r>
              <a:rPr lang="en-IN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Idea: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</a:t>
            </a:r>
            <a:r>
              <a:rPr lang="en-IN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AI-based bidirectional communication system</a:t>
            </a:r>
            <a:endParaRPr lang="en-IN" sz="6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IN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Modules: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Sign → Text + Voice</a:t>
            </a:r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Capture gesture via camera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 CNN / Deep Learning for classification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to text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text → speech (TTS) 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6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Speech/Text → Sign</a:t>
            </a:r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 recognition (voice input)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Convert to text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sz="6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Display as sign animation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18901756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EF92F666-1014-405A-7959-B7162929B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PROPOSED SYSTEM: REAL-TIME 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3B9A7966-79E7-A754-B2B2-FA88E6740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5554" y="2062385"/>
            <a:ext cx="9603275" cy="3450613"/>
          </a:xfrm>
        </p:spPr>
        <p:txBody>
          <a:bodyPr wrap="square">
            <a:normAutofit fontScale="92500" lnSpcReduction="10000"/>
          </a:bodyPr>
          <a:lstStyle/>
          <a:p>
            <a:pPr marL="0" indent="0">
              <a:spcAft>
                <a:spcPts val="400"/>
              </a:spcAft>
              <a:buNone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Real-Time Processing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Fast prediction (low latency) 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Continuous gesture recognition </a:t>
            </a:r>
          </a:p>
          <a:p>
            <a:pPr marL="0" indent="0"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Technologies Used: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Computer Vision (OpenCV) 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 Learning (CNN,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ResNet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YOLO) 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Speech Recognition 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Text-to-Speech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="" xmlns:p14="http://schemas.microsoft.com/office/powerpoint/2010/main" val="3119029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91B42681-4CD7-4BE0-BA12-923CE0108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FUTURE SCOPE &amp; APPLICATIONS</a:t>
            </a:r>
          </a:p>
        </p:txBody>
      </p:sp>
      <p:sp>
        <p:nvSpPr>
          <p:cNvPr id="7" name="Rectangle 1">
            <a:extLst>
              <a:ext uri="{FF2B5EF4-FFF2-40B4-BE49-F238E27FC236}">
                <a16:creationId xmlns="" xmlns:a16="http://schemas.microsoft.com/office/drawing/2014/main" id="{02A0F5D5-DC5D-3570-2DBE-04B5816A71B9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451579" y="1755879"/>
            <a:ext cx="4573688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Tx/>
              <a:buChar char="•"/>
              <a:tabLst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Support for continuous sentence recognition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FontTx/>
              <a:buChar char="•"/>
              <a:tabLst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 regional languages (Kannada, Hindi, etc.)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  <a:tabLst/>
            </a:pPr>
            <a:r>
              <a:rPr kumimoji="0" lang="en-US" altLang="en-US" sz="18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Improve accuracy using: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tabLst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Transformer models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tabLst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Multimodal learning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Deploy as: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tabLst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Mobile App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tabLst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Wearable device 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None/>
              <a:tabLst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Integration with: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tabLst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Smart assistants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400"/>
              </a:spcAft>
              <a:buClrTx/>
              <a:buSzTx/>
              <a:buNone/>
              <a:tabLst/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    AR/VR systems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="" xmlns:p14="http://schemas.microsoft.com/office/powerpoint/2010/main" val="13962151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>
            <a:normAutofit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SYSTEM DESIGN: OVERVIEW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Vision-based system for recognizing Indian Sign Language (ISL)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Captures sign gestures through a camera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Processes the captured hand images/frames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Identifies the corresponding sign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Converts the recognized sign into understandable output</a:t>
            </a:r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SYSTEM DESIGN: ARCHITECTURE WORKFLOW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" name="Picture Placeholder 9" descr="SIGN.jpe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25944" r="25944"/>
          <a:stretch>
            <a:fillRect/>
          </a:stretch>
        </p:blipFill>
        <p:spPr bwMode="auto">
          <a:xfrm>
            <a:off x="5791200" y="160338"/>
            <a:ext cx="5938683" cy="5745765"/>
          </a:xfrm>
          <a:prstGeom prst="rect">
            <a:avLst/>
          </a:prstGeom>
          <a:noFill/>
        </p:spPr>
      </p:pic>
      <p:sp>
        <p:nvSpPr>
          <p:cNvPr id="28676" name="AutoShape 4" descr="blob:https://web.whatsapp.com/3106255e-8399-4a81-b322-f18bde9d0e6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DETAIL DESIGN: 1. INPUT MODULE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1. Input Module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Captures hand movements through a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webcam or uploaded video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for real-time or recorded input.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Sends video frames to the hand detection module for further processing.</a:t>
            </a:r>
          </a:p>
          <a:p>
            <a:endParaRPr lang="en-US" dirty="0"/>
          </a:p>
        </p:txBody>
      </p:sp>
      <p:pic>
        <p:nvPicPr>
          <p:cNvPr id="8" name="Content Placeholder 7" descr="sign4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92483" y="1941832"/>
            <a:ext cx="5001208" cy="3517641"/>
          </a:xfrm>
        </p:spPr>
      </p:pic>
    </p:spTree>
  </p:cSld>
  <p:clrMapOvr>
    <a:masterClrMapping/>
  </p:clrMapOvr>
  <p:transition spd="slow">
    <p:push dir="u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>
            <a:normAutofit fontScale="90000"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DETAIL DESIGN: 2. HAND DETECTION MODULE</a:t>
            </a:r>
            <a:endParaRPr lang="en-US" sz="36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2. Hand Detection Module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Uses </a:t>
            </a:r>
            <a:r>
              <a:rPr lang="en-US" b="1" dirty="0" err="1">
                <a:latin typeface="Times New Roman" pitchFamily="18" charset="0"/>
                <a:cs typeface="Times New Roman" pitchFamily="18" charset="0"/>
              </a:rPr>
              <a:t>MediaPipe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 Hands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to detect and track one or both hands and identify their handedness.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Provides the detected hand information for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3D hand gesture generation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endParaRPr lang="en-US" dirty="0"/>
          </a:p>
        </p:txBody>
      </p:sp>
      <p:pic>
        <p:nvPicPr>
          <p:cNvPr id="8" name="Content Placeholder 7" descr="sign5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83560" y="1959429"/>
            <a:ext cx="5029200" cy="3666930"/>
          </a:xfrm>
        </p:spPr>
      </p:pic>
    </p:spTree>
  </p:cSld>
  <p:clrMapOvr>
    <a:masterClrMapping/>
  </p:clrMapOvr>
  <p:transition spd="slow">
    <p:push dir="u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DETAIL DESIGN: 3. 3D HAND GESTURES MODULE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3. 3D Hand Gestures Module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Converts detected hand information into a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3D representation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including fingers, joints, palm structure, movement, and orientation.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Supports both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static and dynamic gestures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and provides the representation for recognition and visualization.</a:t>
            </a:r>
            <a:endParaRPr lang="en-US" dirty="0"/>
          </a:p>
        </p:txBody>
      </p:sp>
      <p:pic>
        <p:nvPicPr>
          <p:cNvPr id="8" name="Content Placeholder 7" descr="sign6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99584" y="2015411"/>
            <a:ext cx="5058941" cy="3573625"/>
          </a:xfrm>
        </p:spPr>
      </p:pic>
    </p:spTree>
  </p:cSld>
  <p:clrMapOvr>
    <a:masterClrMapping/>
  </p:clrMapOvr>
  <p:transition spd="slow">
    <p:push dir="u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DETAIL DESIGN: 4. DATASET COLLECTION &amp; STORAGE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4. Dataset Collection &amp; Storage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Collects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gesture name/ID, signer ID, static/dynamic type, images/videos, and metadata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Uses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50 valid samples per sign for each team member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and stores the collected gesture data systematically.</a:t>
            </a:r>
          </a:p>
          <a:p>
            <a:endParaRPr lang="en-US" dirty="0"/>
          </a:p>
        </p:txBody>
      </p:sp>
      <p:pic>
        <p:nvPicPr>
          <p:cNvPr id="8" name="Content Placeholder 7" descr="sign7.pn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62262" y="1922106"/>
            <a:ext cx="5178489" cy="4058816"/>
          </a:xfrm>
        </p:spPr>
      </p:pic>
    </p:spTree>
  </p:cSld>
  <p:clrMapOvr>
    <a:masterClrMapping/>
  </p:clrMapOvr>
  <p:transition spd="slow">
    <p:push dir="u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DETAIL DESIGN: 5. DATASET PREPROCESSING MODULE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5. Dataset Preprocessing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Checks data quality, removes invalid samples, handles missing data, and organizes samples by gesture class.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Maintains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frame sequences for dynamic gestures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and prepares the data for model training.</a:t>
            </a:r>
          </a:p>
          <a:p>
            <a:endParaRPr lang="en-US" dirty="0"/>
          </a:p>
        </p:txBody>
      </p:sp>
      <p:pic>
        <p:nvPicPr>
          <p:cNvPr id="8" name="Content Placeholder 7" descr="sign8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24940" y="2017713"/>
            <a:ext cx="5105540" cy="3711283"/>
          </a:xfrm>
        </p:spPr>
      </p:pic>
    </p:spTree>
  </p:cSld>
  <p:clrMapOvr>
    <a:masterClrMapping/>
  </p:clrMapOvr>
  <p:transition spd="slow">
    <p:push dir="u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DETAIL DESIGN: 6. MODEL TRAINING MODULE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6. Model Training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Uses an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ML classifier for static gestures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and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LSTM/GRU/Transformer models for dynamic gestures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Learns gesture patterns and maps them to the corresponding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ISL sign classes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endParaRPr lang="en-US" dirty="0"/>
          </a:p>
        </p:txBody>
      </p:sp>
      <p:pic>
        <p:nvPicPr>
          <p:cNvPr id="8" name="Content Placeholder 7" descr="sign9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90254" y="1968759"/>
            <a:ext cx="5040226" cy="3984172"/>
          </a:xfrm>
        </p:spPr>
      </p:pic>
    </p:spTree>
  </p:cSld>
  <p:clrMapOvr>
    <a:masterClrMapping/>
  </p:clrMapOvr>
  <p:transition spd="slow">
    <p:push dir="u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DETAIL DESIGN: 7. MODEL EVALUATION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7. Model Evaluation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Evaluates performance using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accuracy, precision, recall, F1-score, and confusion matrix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Measures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inference latency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to ensure the system is suitable for real-time recognition.</a:t>
            </a:r>
          </a:p>
          <a:p>
            <a:endParaRPr lang="en-US" dirty="0"/>
          </a:p>
        </p:txBody>
      </p:sp>
      <p:pic>
        <p:nvPicPr>
          <p:cNvPr id="8" name="Content Placeholder 7" descr="sign10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36906" y="2017712"/>
            <a:ext cx="4993573" cy="3767267"/>
          </a:xfrm>
        </p:spPr>
      </p:pic>
    </p:spTree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DETAIL DESIGN: 8. REAL-TIME RECOGNITION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8. Real-Time Recognition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Captures live webcam input, detects the hand, and generates the corresponding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3D hand gesture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Sends the gesture to the trained model and produces the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predicted ISL sign in real time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endParaRPr lang="en-US" dirty="0"/>
          </a:p>
        </p:txBody>
      </p:sp>
      <p:pic>
        <p:nvPicPr>
          <p:cNvPr id="10" name="Content Placeholder 9" descr="sign12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850294" y="2017713"/>
            <a:ext cx="5234473" cy="3757936"/>
          </a:xfrm>
        </p:spPr>
      </p:pic>
    </p:spTree>
  </p:cSld>
  <p:clrMapOvr>
    <a:masterClrMapping/>
  </p:clrMapOvr>
  <p:transition spd="slow">
    <p:push dir="u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DETAIL DESIGN: 9. GESTURE CLASSIFICATION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9. Gesture Classification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Identifies the performed ISL gesture using the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trained recognition model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Maps the prediction to signs such as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HELLO, YES, THANK YOU, or NO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and sends it to the output modules.</a:t>
            </a:r>
          </a:p>
          <a:p>
            <a:endParaRPr lang="en-US" dirty="0"/>
          </a:p>
        </p:txBody>
      </p:sp>
      <p:pic>
        <p:nvPicPr>
          <p:cNvPr id="8" name="Content Placeholder 7" descr="sign11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775649" y="2017713"/>
            <a:ext cx="5271795" cy="3580654"/>
          </a:xfrm>
        </p:spPr>
      </p:pic>
    </p:spTree>
  </p:cSld>
  <p:clrMapOvr>
    <a:masterClrMapping/>
  </p:clrMapOvr>
  <p:transition spd="slow">
    <p:push dir="u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DETAIL DESIGN: 10. TEXT OUTPUT MODULE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10. Text Output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Converts the recognized ISL gesture into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English and Kannada text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using 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Google cloud Translation API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Displays the predicted meaning clearly on the application interface.</a:t>
            </a:r>
            <a:endParaRPr lang="en-US" dirty="0"/>
          </a:p>
        </p:txBody>
      </p:sp>
      <p:pic>
        <p:nvPicPr>
          <p:cNvPr id="8" name="Content Placeholder 7" descr="sign13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738327" y="2017713"/>
            <a:ext cx="5346439" cy="3673960"/>
          </a:xfrm>
        </p:spPr>
      </p:pic>
    </p:spTree>
  </p:cSld>
  <p:clrMapOvr>
    <a:masterClrMapping/>
  </p:clrMapOvr>
  <p:transition spd="slow">
    <p:push dir="u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DETAIL DESIGN: 11. 3D HAND OUTPUT MODULE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wrap="square"/>
          <a:lstStyle/>
          <a:p>
            <a:pPr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11. 3D Hand Output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Displays the recognized gesture using a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rigged and animated 3D hand model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Provides a visual representation of the sign for better understanding and verification.</a:t>
            </a:r>
          </a:p>
          <a:p>
            <a:endParaRPr lang="en-US" dirty="0"/>
          </a:p>
        </p:txBody>
      </p:sp>
      <p:pic>
        <p:nvPicPr>
          <p:cNvPr id="8" name="Content Placeholder 7" descr="sign14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018246" y="2017713"/>
            <a:ext cx="5012234" cy="3701952"/>
          </a:xfrm>
        </p:spPr>
      </p:pic>
    </p:spTree>
  </p:cSld>
  <p:clrMapOvr>
    <a:masterClrMapping/>
  </p:clrMapOvr>
  <p:transition spd="slow">
    <p:push dir="u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DETAIL DESIGN: 12. TEXT-TO-SPEECH MODULE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0" y="2010878"/>
            <a:ext cx="4756825" cy="3448595"/>
          </a:xfrm>
        </p:spPr>
        <p:txBody>
          <a:bodyPr wrap="square"/>
          <a:lstStyle/>
          <a:p>
            <a:pPr>
              <a:spcAft>
                <a:spcPts val="600"/>
              </a:spcAft>
              <a:buNone/>
              <a:defRPr sz="1500" b="1">
                <a:solidFill>
                  <a:srgbClr val="0E7490"/>
                </a:solidFill>
                <a:latin typeface="Segoe UI"/>
              </a:defRPr>
            </a:pPr>
            <a:r>
              <a:rPr lang="en-US" b="1" dirty="0">
                <a:latin typeface="Times New Roman" pitchFamily="18" charset="0"/>
                <a:cs typeface="Times New Roman" pitchFamily="18" charset="0"/>
              </a:rPr>
              <a:t>12. Text-to-Speech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Converts the recognized 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English/Kannada text into audible speech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using Google Cloud  TTS.</a:t>
            </a:r>
          </a:p>
          <a:p>
            <a:pPr>
              <a:spcAft>
                <a:spcPts val="400"/>
              </a:spcAft>
              <a:defRPr sz="1300" b="0">
                <a:solidFill>
                  <a:srgbClr val="1E293B"/>
                </a:solidFill>
                <a:latin typeface="Segoe UI"/>
              </a:defRPr>
            </a:pPr>
            <a:r>
              <a:rPr lang="en-US" dirty="0">
                <a:latin typeface="Times New Roman" pitchFamily="18" charset="0"/>
                <a:cs typeface="Times New Roman" pitchFamily="18" charset="0"/>
              </a:rPr>
              <a:t>Provides </a:t>
            </a:r>
            <a:r>
              <a:rPr lang="en-US" b="1" dirty="0">
                <a:latin typeface="Times New Roman" pitchFamily="18" charset="0"/>
                <a:cs typeface="Times New Roman" pitchFamily="18" charset="0"/>
              </a:rPr>
              <a:t>voice output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 to facilitate communication between ISL users and non-sign-language users.</a:t>
            </a:r>
            <a:endParaRPr lang="en-US" dirty="0"/>
          </a:p>
        </p:txBody>
      </p:sp>
      <p:pic>
        <p:nvPicPr>
          <p:cNvPr id="8" name="Content Placeholder 7" descr="sign15.jpeg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878286" y="2017712"/>
            <a:ext cx="5215812" cy="3645969"/>
          </a:xfrm>
        </p:spPr>
      </p:pic>
    </p:spTree>
  </p:cSld>
  <p:clrMapOvr>
    <a:masterClrMapping/>
  </p:clrMapOvr>
  <p:transition spd="slow">
    <p:push dir="u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SYSTEM REQUIREMENT SPECIFICATION (SRS): CORE MODULES</a:t>
            </a:r>
            <a:endParaRPr lang="en-US" dirty="0"/>
          </a:p>
        </p:txBody>
      </p:sp>
      <p:graphicFrame>
        <p:nvGraphicFramePr>
          <p:cNvPr id="8" name="Content Placeholder 7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xmlns="" val="3250413235"/>
              </p:ext>
            </p:extLst>
          </p:nvPr>
        </p:nvGraphicFramePr>
        <p:xfrm>
          <a:off x="1465005" y="2005780"/>
          <a:ext cx="10638798" cy="4053994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3546266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546266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546266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Model/Technology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What it does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Where we use it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70104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b="1" dirty="0" err="1">
                          <a:latin typeface="Times New Roman" pitchFamily="18" charset="0"/>
                          <a:cs typeface="Times New Roman" pitchFamily="18" charset="0"/>
                        </a:rPr>
                        <a:t>MediaPipe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hand </a:t>
                      </a:r>
                      <a:r>
                        <a:rPr lang="en-IN" sz="2000" b="0" baseline="0" dirty="0" err="1">
                          <a:latin typeface="Times New Roman" pitchFamily="18" charset="0"/>
                          <a:cs typeface="Times New Roman" pitchFamily="18" charset="0"/>
                        </a:rPr>
                        <a:t>landmarker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Detects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the hand and extracts 21 landmarks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Input  -&gt; landmark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extraction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1"/>
                  </a:ext>
                </a:extLst>
              </a:tr>
              <a:tr h="1316856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3D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hand rig /GLB model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3D hand model with a bones and joints that allows the fingers and hand to move realistically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21 landmark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-&gt; 3D Hand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2"/>
                  </a:ext>
                </a:extLst>
              </a:tr>
              <a:tr h="81992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Feature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normalization 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Makes 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land marks data consistent , improving accuracy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Before training for reduce noise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3"/>
                  </a:ext>
                </a:extLst>
              </a:tr>
              <a:tr h="819929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ML classifier 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just"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Learns</a:t>
                      </a:r>
                      <a:r>
                        <a:rPr lang="en-IN" sz="2000" baseline="0" dirty="0">
                          <a:latin typeface="Times New Roman" pitchFamily="18" charset="0"/>
                          <a:cs typeface="Times New Roman" pitchFamily="18" charset="0"/>
                        </a:rPr>
                        <a:t> which landmark pattern corresponds to which ISL sign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itchFamily="18" charset="0"/>
                          <a:cs typeface="Times New Roman" pitchFamily="18" charset="0"/>
                        </a:rPr>
                        <a:t>Used for static sign recognition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/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SYSTEM REQUIREMENT SPECIFICATION (SRS): SEQUENTIAL MODELS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graphicFrame>
        <p:nvGraphicFramePr>
          <p:cNvPr id="7" name="Content Placeholder 6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xmlns="" val="1027769683"/>
              </p:ext>
            </p:extLst>
          </p:nvPr>
        </p:nvGraphicFramePr>
        <p:xfrm>
          <a:off x="1399591" y="2164702"/>
          <a:ext cx="9638523" cy="393192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3212841">
                  <a:extLst>
                    <a:ext uri="{9D8B030D-6E8A-4147-A177-3AD203B41FA5}">
                      <a16:colId xmlns:a16="http://schemas.microsoft.com/office/drawing/2014/main" xmlns="" val="20000"/>
                    </a:ext>
                  </a:extLst>
                </a:gridCol>
                <a:gridCol w="3212841">
                  <a:extLst>
                    <a:ext uri="{9D8B030D-6E8A-4147-A177-3AD203B41FA5}">
                      <a16:colId xmlns:a16="http://schemas.microsoft.com/office/drawing/2014/main" xmlns="" val="20001"/>
                    </a:ext>
                  </a:extLst>
                </a:gridCol>
                <a:gridCol w="3212841">
                  <a:extLst>
                    <a:ext uri="{9D8B030D-6E8A-4147-A177-3AD203B41FA5}">
                      <a16:colId xmlns:a16="http://schemas.microsoft.com/office/drawing/2014/main" xmlns="" val="20002"/>
                    </a:ext>
                  </a:extLst>
                </a:gridCol>
              </a:tblGrid>
              <a:tr h="1258773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IN" sz="2000" b="0" dirty="0">
                          <a:latin typeface="Times New Roman" pitchFamily="18" charset="0"/>
                          <a:cs typeface="Times New Roman" pitchFamily="18" charset="0"/>
                        </a:rPr>
                        <a:t>Long</a:t>
                      </a:r>
                      <a:r>
                        <a:rPr lang="en-IN" sz="2000" b="0" baseline="0" dirty="0">
                          <a:latin typeface="Times New Roman" pitchFamily="18" charset="0"/>
                          <a:cs typeface="Times New Roman" pitchFamily="18" charset="0"/>
                        </a:rPr>
                        <a:t> Short-Term Memory(LSTM) / Gated Recurrent Unit (GRU)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IN" sz="2000" b="0" dirty="0">
                          <a:latin typeface="Times New Roman" pitchFamily="18" charset="0"/>
                          <a:cs typeface="Times New Roman" pitchFamily="18" charset="0"/>
                        </a:rPr>
                        <a:t>Types of RNNs designed to understand sequential data &amp; Learns movement</a:t>
                      </a:r>
                      <a:r>
                        <a:rPr lang="en-IN" sz="2000" b="0" baseline="0" dirty="0">
                          <a:latin typeface="Times New Roman" pitchFamily="18" charset="0"/>
                          <a:cs typeface="Times New Roman" pitchFamily="18" charset="0"/>
                        </a:rPr>
                        <a:t> patterns across multiple frames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IN" sz="2000" b="0" dirty="0">
                          <a:latin typeface="Times New Roman" pitchFamily="18" charset="0"/>
                          <a:cs typeface="Times New Roman" pitchFamily="18" charset="0"/>
                        </a:rPr>
                        <a:t>Used for dynamic-sign</a:t>
                      </a:r>
                      <a:r>
                        <a:rPr lang="en-IN" sz="2000" b="0" baseline="0" dirty="0">
                          <a:latin typeface="Times New Roman" pitchFamily="18" charset="0"/>
                          <a:cs typeface="Times New Roman" pitchFamily="18" charset="0"/>
                        </a:rPr>
                        <a:t> recognition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855303039"/>
                  </a:ext>
                </a:extLst>
              </a:tr>
              <a:tr h="1258773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b="0" dirty="0">
                          <a:latin typeface="Times New Roman" pitchFamily="18" charset="0"/>
                          <a:cs typeface="Times New Roman" pitchFamily="18" charset="0"/>
                        </a:rPr>
                        <a:t>Three.js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b="0" dirty="0">
                          <a:latin typeface="Times New Roman" pitchFamily="18" charset="0"/>
                          <a:cs typeface="Times New Roman" pitchFamily="18" charset="0"/>
                        </a:rPr>
                        <a:t>JavaScript 3D graphics library used to displays 3D animation directly </a:t>
                      </a:r>
                      <a:r>
                        <a:rPr lang="en-IN" sz="2000" b="0" baseline="0" dirty="0">
                          <a:latin typeface="Times New Roman" pitchFamily="18" charset="0"/>
                          <a:cs typeface="Times New Roman" pitchFamily="18" charset="0"/>
                        </a:rPr>
                        <a:t>in the browser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b="0" dirty="0">
                          <a:latin typeface="Times New Roman" pitchFamily="18" charset="0"/>
                          <a:cs typeface="Times New Roman" pitchFamily="18" charset="0"/>
                        </a:rPr>
                        <a:t>3D visualization and recognize the hand movement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10000"/>
                  </a:ext>
                </a:extLst>
              </a:tr>
              <a:tr h="1285932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GB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Google Cloud Text-to-Speech (TTS)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GB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Cloud-based service that converts </a:t>
                      </a:r>
                      <a:r>
                        <a:rPr lang="en-GB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text into natural-sounding speech</a:t>
                      </a:r>
                      <a:r>
                        <a:rPr lang="en-GB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using AI-generated voices.</a:t>
                      </a:r>
                      <a:endParaRPr lang="en-US" sz="200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rPr lang="en-IN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For </a:t>
                      </a:r>
                      <a:r>
                        <a:rPr lang="en-IN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voicing (text → speech)</a:t>
                      </a:r>
                      <a:endParaRPr lang="en-US" sz="2000" b="0" dirty="0">
                        <a:latin typeface="Times New Roman" pitchFamily="18" charset="0"/>
                        <a:cs typeface="Times New Roman" pitchFamily="18" charset="0"/>
                      </a:endParaRPr>
                    </a:p>
                  </a:txBody>
                  <a:tcPr>
                    <a:solidFill>
                      <a:srgbClr val="F8F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982328795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slow">
    <p:push dir="u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8647276-F502-4009-A858-DC21E91B2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280" y="502920"/>
            <a:ext cx="9994392" cy="777240"/>
          </a:xfrm>
        </p:spPr>
        <p:txBody>
          <a:bodyPr wrap="square" lIns="0" tIns="0" rIns="0" bIns="0">
            <a:normAutofit fontScale="90000"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SYSTEM REQUIREMENT SPECIFICATION (SRS): APIS &amp; TRANSLATION</a:t>
            </a:r>
            <a:endParaRPr lang="en-IN" dirty="0"/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xmlns="" id="{93C6B542-F6F1-48BD-BB40-6C2DDBA4985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xmlns="" val="2311154260"/>
              </p:ext>
            </p:extLst>
          </p:nvPr>
        </p:nvGraphicFramePr>
        <p:xfrm>
          <a:off x="1450975" y="2016125"/>
          <a:ext cx="9604374" cy="1005840"/>
        </p:xfrm>
        <a:graphic>
          <a:graphicData uri="http://schemas.openxmlformats.org/drawingml/2006/table">
            <a:tbl>
              <a:tblPr firstRow="1" bandRow="1">
                <a:tableStyleId>{68D230F3-CF80-4859-8CE7-A43EE81993B5}</a:tableStyleId>
              </a:tblPr>
              <a:tblGrid>
                <a:gridCol w="3201458">
                  <a:extLst>
                    <a:ext uri="{9D8B030D-6E8A-4147-A177-3AD203B41FA5}">
                      <a16:colId xmlns:a16="http://schemas.microsoft.com/office/drawing/2014/main" xmlns="" val="2112303055"/>
                    </a:ext>
                  </a:extLst>
                </a:gridCol>
                <a:gridCol w="3201458">
                  <a:extLst>
                    <a:ext uri="{9D8B030D-6E8A-4147-A177-3AD203B41FA5}">
                      <a16:colId xmlns:a16="http://schemas.microsoft.com/office/drawing/2014/main" xmlns="" val="713485930"/>
                    </a:ext>
                  </a:extLst>
                </a:gridCol>
                <a:gridCol w="3201458">
                  <a:extLst>
                    <a:ext uri="{9D8B030D-6E8A-4147-A177-3AD203B41FA5}">
                      <a16:colId xmlns:a16="http://schemas.microsoft.com/office/drawing/2014/main" xmlns="" val="10799840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US" sz="2000" b="0" dirty="0">
                          <a:latin typeface="Times New Roman" pitchFamily="18" charset="0"/>
                          <a:cs typeface="Times New Roman" pitchFamily="18" charset="0"/>
                        </a:rPr>
                        <a:t>Google cloud Translation API</a:t>
                      </a:r>
                      <a:endParaRPr lang="en-IN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GB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It can translate the recognized English meaning into </a:t>
                      </a:r>
                      <a:r>
                        <a:rPr lang="en-GB" sz="20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kannada</a:t>
                      </a:r>
                      <a:r>
                        <a:rPr lang="en-GB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text</a:t>
                      </a:r>
                      <a:endParaRPr lang="en-IN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rPr lang="en-GB" sz="20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English – Kannada translation of text</a:t>
                      </a:r>
                      <a:endParaRPr lang="en-IN" sz="2000" b="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>
                    <a:solidFill>
                      <a:srgbClr val="1323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xmlns="" val="29157298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xmlns="" val="1295035817"/>
      </p:ext>
    </p:extLst>
  </p:cSld>
  <p:clrMapOvr>
    <a:masterClrMapping/>
  </p:clrMapOvr>
  <p:transition spd="slow">
    <p:push dir="u"/>
  </p:transition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02920"/>
            <a:ext cx="99943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CONTINUOUS GESTURE COMMUNICATION: DROP-TO-COMMIT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1188720"/>
          </a:xfrm>
          <a:prstGeom prst="roundRect">
            <a:avLst/>
          </a:prstGeom>
          <a:solidFill>
            <a:srgbClr val="F0FDFA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60020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E7490"/>
                </a:solidFill>
                <a:latin typeface="Segoe UI"/>
              </a:defRPr>
            </a:pPr>
            <a:r>
              <a:t>SOLVING CONTINUOUS SENTENCE RECOGNITION (Guide's Essential Requirement)</a:t>
            </a:r>
          </a:p>
          <a:p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Traditional models predict isolated signs on single frames, creating repeated character flooding. G2T2G introduces a state-machine gesture buffer that stages continuous gestures into fluent sentences without requiring any mouse or keyboard touch.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2926080"/>
            <a:ext cx="48006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3108960"/>
            <a:ext cx="4434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7490"/>
                </a:solidFill>
                <a:latin typeface="Segoe UI"/>
              </a:defRPr>
            </a:pPr>
            <a:r>
              <a:t>1. Multi-Frame Stability Filter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Requires 3 consecutive matching predictions before staging any gesture, filtering transitional hand motion.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2926080"/>
            <a:ext cx="48006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3108960"/>
            <a:ext cx="4434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233A"/>
                </a:solidFill>
                <a:latin typeface="Segoe UI"/>
              </a:defRPr>
            </a:pPr>
            <a:r>
              <a:t>2. Anti-Duplication Suppression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Once a gesture is staged, repeated predictions of that sign are suppressed to prevent spamming identical words.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97280" y="4754880"/>
            <a:ext cx="48006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4937760"/>
            <a:ext cx="4434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EA580C"/>
                </a:solidFill>
                <a:latin typeface="Segoe UI"/>
              </a:defRPr>
            </a:pPr>
            <a:r>
              <a:t>3. Live Staged Phrase Dock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Renders interactive visual badge chips (e.g. [GOOD] + [MORNING]) directly on the camera overlay.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91072" y="4754880"/>
            <a:ext cx="4800600" cy="1645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3952" y="4937760"/>
            <a:ext cx="4434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4. Hand Drop-to-Commit Trigger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When hands relax or drop below the camera frame, the buffer auto-commits the full phrase into audio &amp; text.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02920"/>
            <a:ext cx="99943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DATASET COLLECTION &amp; MULTI-SIGNER DISTRIBUTION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463040"/>
          <a:ext cx="621792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097280"/>
                <a:gridCol w="1188720"/>
                <a:gridCol w="1188720"/>
              </a:tblGrid>
              <a:tr h="73152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Subset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Raw Rows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Excluded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Retained Samples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Classes Trained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Static Gestures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4,774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11 (book)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4,763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27 (A–Z, super)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Dynamic Gestures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2,702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6 (empty)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2,696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18 Words/Phrases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Total Database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7,476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7,459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45 ISL Gestures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463040"/>
            <a:ext cx="3502152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1645920"/>
            <a:ext cx="313639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E7490"/>
                </a:solidFill>
                <a:latin typeface="Segoe UI"/>
              </a:defRPr>
            </a:pPr>
            <a:r>
              <a:t>MULTI-SIGNER INTEGRITY</a:t>
            </a:r>
          </a:p>
          <a:p>
            <a:pPr>
              <a:defRPr b="1" sz="1050">
                <a:solidFill>
                  <a:srgbClr val="1E293B"/>
                </a:solidFill>
                <a:latin typeface="Segoe UI"/>
              </a:defRPr>
            </a:pPr>
            <a:r>
              <a:t>• 1GG23CS007 (Anupama G N)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 Master reference signer, 239 static / 132 dynamic test samples.</a:t>
            </a:r>
          </a:p>
          <a:p>
            <a:pPr>
              <a:defRPr b="1" sz="1050">
                <a:solidFill>
                  <a:srgbClr val="1E293B"/>
                </a:solidFill>
                <a:latin typeface="Segoe UI"/>
              </a:defRPr>
            </a:pPr>
            <a:r>
              <a:t>• 1GG23CS016 (Darshan Divakar Naik)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 Static dataset validation contributor.</a:t>
            </a:r>
          </a:p>
          <a:p>
            <a:pPr>
              <a:defRPr b="1" sz="1050">
                <a:solidFill>
                  <a:srgbClr val="1E293B"/>
                </a:solidFill>
                <a:latin typeface="Segoe UI"/>
              </a:defRPr>
            </a:pPr>
            <a:r>
              <a:t>• 1GG23CS021 (Hithaishi M)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 240 static / 133 dynamic test samples.</a:t>
            </a:r>
          </a:p>
          <a:p>
            <a:pPr>
              <a:defRPr b="1" sz="1050">
                <a:solidFill>
                  <a:srgbClr val="1E293B"/>
                </a:solidFill>
                <a:latin typeface="Segoe UI"/>
              </a:defRPr>
            </a:pPr>
            <a:r>
              <a:t>• 1GG23CS026 (Keerthana H S)</a:t>
            </a:r>
          </a:p>
          <a:p>
            <a:pPr>
              <a:spcAft>
                <a:spcPts val="600"/>
              </a:spcAft>
              <a:defRPr sz="950">
                <a:solidFill>
                  <a:srgbClr val="64748B"/>
                </a:solidFill>
                <a:latin typeface="Segoe UI"/>
              </a:defRPr>
            </a:pPr>
            <a:r>
              <a:t>   214 static / 140 dynamic test samples.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663440"/>
            <a:ext cx="6217920" cy="146304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800600"/>
            <a:ext cx="58521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7490"/>
                </a:solidFill>
                <a:latin typeface="Segoe UI"/>
              </a:defRPr>
            </a:pPr>
            <a:r>
              <a:t>Rigorous Data Hygiene &amp; Protocol:</a:t>
            </a:r>
          </a:p>
          <a:p>
            <a:pPr>
              <a:defRPr sz="1000">
                <a:solidFill>
                  <a:srgbClr val="1E293B"/>
                </a:solidFill>
                <a:latin typeface="Segoe UI"/>
              </a:defRPr>
            </a:pPr>
            <a:r>
              <a:t>• 50 valid samples captured per sign for each team member (as per project methodology).</a:t>
            </a:r>
            <a:br/>
            <a:r>
              <a:t>• Stratified sampling: 70% Training / 15% Validation / 15% Held-Out Test.</a:t>
            </a:r>
            <a:br/>
            <a:r>
              <a:t>• Scaler parameters fitted strictly on training data to prevent data leakage.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02920"/>
            <a:ext cx="99943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MACHINE LEARNING MULTI-MODEL COMPARISON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463040"/>
          <a:ext cx="59436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05840"/>
                <a:gridCol w="1005840"/>
                <a:gridCol w="1005840"/>
                <a:gridCol w="1005840"/>
              </a:tblGrid>
              <a:tr h="666205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Static Acc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Dynamic Acc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Latency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Naive Baseline (Majority)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5.68%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0.008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Logistic Regression (L2)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99.16%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0.006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★ Champion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Extra Trees (250 trees)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99.02%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0.178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Evaluated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Random Forest (200 trees)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99.02%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0.141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Evaluated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66205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MLP Neural Net (256x128)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98.88%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99.51%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0.008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Evaluated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66210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Soft-Voting Ensemble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98.88%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0.353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Evaluated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463040"/>
            <a:ext cx="3776472" cy="151058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02920"/>
            <a:ext cx="99943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MODEL EVALUATION &amp; CONFUSION MATRICES</a:t>
            </a:r>
          </a:p>
        </p:txBody>
      </p:sp>
      <p:pic>
        <p:nvPicPr>
          <p:cNvPr id="3" name="Picture 2" descr="static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0"/>
            <a:ext cx="3931920" cy="3370217"/>
          </a:xfrm>
          <a:prstGeom prst="rect">
            <a:avLst/>
          </a:prstGeom>
        </p:spPr>
      </p:pic>
      <p:pic>
        <p:nvPicPr>
          <p:cNvPr id="4" name="Picture 3" descr="dynamic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463040"/>
            <a:ext cx="3931920" cy="3217025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9326880" y="1463040"/>
            <a:ext cx="1764792" cy="4663440"/>
          </a:xfrm>
          <a:prstGeom prst="roundRect">
            <a:avLst/>
          </a:prstGeom>
          <a:solidFill>
            <a:srgbClr val="13233A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64040" y="1645920"/>
            <a:ext cx="1490472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100" b="1">
                <a:solidFill>
                  <a:srgbClr val="2DD4BF"/>
                </a:solidFill>
                <a:latin typeface="Segoe UI"/>
              </a:defRPr>
            </a:pPr>
            <a:r>
              <a:t>STATISTICAL RIGOR</a:t>
            </a:r>
          </a:p>
          <a:p>
            <a:pPr>
              <a:defRPr sz="950" b="1">
                <a:solidFill>
                  <a:srgbClr val="FFFFFF"/>
                </a:solidFill>
                <a:latin typeface="Segoe UI"/>
              </a:defRPr>
            </a:pPr>
            <a:r>
              <a:t>95% Bootstrap CI: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Static: [98.4%, 99.9%]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Dynamic: [100%, 100%]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</a:p>
          <a:p>
            <a:pPr>
              <a:defRPr sz="950" b="1">
                <a:solidFill>
                  <a:srgbClr val="FFFFFF"/>
                </a:solidFill>
                <a:latin typeface="Segoe UI"/>
              </a:defRPr>
            </a:pPr>
            <a:r>
              <a:t>Precision &amp; Recall: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Zero off-diagonal confusion on dynamic signs.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</a:p>
          <a:p>
            <a:pPr>
              <a:defRPr sz="950" b="1">
                <a:solidFill>
                  <a:srgbClr val="FFFFFF"/>
                </a:solidFill>
                <a:latin typeface="Segoe UI"/>
              </a:defRPr>
            </a:pPr>
            <a:r>
              <a:t>Latency / Sample: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0.006 ms static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0.010 ms dynamic</a:t>
            </a:r>
          </a:p>
          <a:p>
            <a:pPr>
              <a:defRPr sz="950">
                <a:solidFill>
                  <a:srgbClr val="94A3B8"/>
                </a:solidFill>
                <a:latin typeface="Segoe UI"/>
              </a:defRPr>
            </a:pPr>
            <a:r>
              <a:t>60 FPS capable.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02920"/>
            <a:ext cx="99943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CROSS-SIGNER SLICE ANALYSIS &amp; GENERALIZATION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9994392" cy="109728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96286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E7490"/>
                </a:solidFill>
                <a:latin typeface="Segoe UI"/>
              </a:defRPr>
            </a:pPr>
            <a:r>
              <a:t>VERIFYING ZERO DEMOGRAPHIC OR HAND GEOMETRY BIAS</a:t>
            </a:r>
          </a:p>
          <a:p>
            <a:pPr>
              <a:defRPr sz="1150">
                <a:solidFill>
                  <a:srgbClr val="1E293B"/>
                </a:solidFill>
                <a:latin typeface="Segoe UI"/>
              </a:defRPr>
            </a:pPr>
            <a:r>
              <a:t>To guarantee the system works equally well for new unseen individuals, model evaluation was sliced across team members on strictly held-out test splits. All signers achieved between 97.5% and 100% accuracy.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097280" y="2743200"/>
          <a:ext cx="9994392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61872"/>
                <a:gridCol w="1261872"/>
                <a:gridCol w="1261872"/>
                <a:gridCol w="1261872"/>
                <a:gridCol w="1261872"/>
                <a:gridCol w="1307592"/>
              </a:tblGrid>
              <a:tr h="676656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Signer ID / Name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Static Samples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Static Acc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Static F1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Dynamic Samples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Dynamic Acc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Dynamic F1</a:t>
                      </a:r>
                    </a:p>
                  </a:txBody>
                  <a:tcPr>
                    <a:solidFill>
                      <a:srgbClr val="13233A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1GG23CS007 (Anupama G 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1GG23CS016 (Darshan Divakar Naik)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1GG23CS021 (Hithaishi 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97.50%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0.9815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1GG23CS026 (Keerthana H S)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214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100.00%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0">
                          <a:solidFill>
                            <a:srgbClr val="1E293B"/>
                          </a:solidFill>
                          <a:latin typeface="Segoe UI"/>
                        </a:defRPr>
                      </a:pPr>
                      <a:r>
                        <a:t>1.0000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02920"/>
            <a:ext cx="99943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LIVE APPLICATION MODULES &amp; UI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31546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34440" y="16459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0E7490"/>
                </a:solidFill>
                <a:latin typeface="Segoe UI"/>
              </a:defRPr>
            </a:pPr>
            <a:r>
              <a:t>1. Normal / Hearing Studio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Speech &amp; Text Composition: Type message or speak via live microphone.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Quick-Phrase Chips: Instant triggers for Hello, Thank you, Food, Morning, Water.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Dual-Confirmation Output: Shows authentic master signer video above, and live 3D skeletal avatar below.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Missing Gesture Prompt: Alerts if a word is not in dataset and offers to perform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17136" y="1463040"/>
            <a:ext cx="31546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459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13233A"/>
                </a:solidFill>
                <a:latin typeface="Segoe UI"/>
              </a:defRPr>
            </a:pPr>
            <a:r>
              <a:t>2. Sign User Studio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High-Speed Live Camera: Real-time 21-landmark tracking overlay.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Continuous Signing Banner: Displays staged phrase badge chips in real time.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Drop-to-Commit: Automatically transmits text &amp; audio when hands lower.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Bilingual TTS Voice: Automatically speaks English or Kannada (pitch: 1.15, rate: 1.08).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36992" y="1463040"/>
            <a:ext cx="315468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74152" y="1645920"/>
            <a:ext cx="2880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1">
                <a:solidFill>
                  <a:srgbClr val="EA580C"/>
                </a:solidFill>
                <a:latin typeface="Segoe UI"/>
              </a:defRPr>
            </a:pPr>
            <a:r>
              <a:t>3. Continuous Live Chat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Unified Split Screen: Chat thread on the LEFT; visual outputs on the RIGHT.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Upper Right: Master Signer video &amp; live webcam recognition.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Lower Right: Interactive 3D Avatar with 0.1x to 1.5x speed controls.</a:t>
            </a:r>
          </a:p>
          <a:p>
            <a:pPr>
              <a:spcAft>
                <a:spcPts val="800"/>
              </a:spcAft>
              <a:defRPr sz="1100">
                <a:solidFill>
                  <a:srgbClr val="1E293B"/>
                </a:solidFill>
                <a:latin typeface="Segoe UI"/>
              </a:defRPr>
            </a:pPr>
            <a:r>
              <a:t>• Unobstructed Canvas: Captions &amp; sequence steppers placed strictly below video canvas.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02920"/>
            <a:ext cx="99943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SYSTEM TESTING &amp; PERFORMANCE BENCHMARKS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645920"/>
            <a:ext cx="48006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828800"/>
            <a:ext cx="4434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0E7490"/>
                </a:solidFill>
                <a:latin typeface="Segoe UI"/>
              </a:defRPr>
            </a:pPr>
            <a:r>
              <a:t>Unit &amp; Component Testing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• Verified MediaPipe 21-joint extraction across varying lighting conditions.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• Confirmed Web Speech STT and TTS voice output across multiple browsers.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• Tested Three.js WebGL landmark playback at 0.1x, 0.5x, 1.0x, and 1.5x.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645920"/>
            <a:ext cx="48006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3952" y="1828800"/>
            <a:ext cx="4434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3233A"/>
                </a:solidFill>
                <a:latin typeface="Segoe UI"/>
              </a:defRPr>
            </a:pPr>
            <a:r>
              <a:t>Continuous Integration &amp; Regression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• Anti-duplication regression tests: Zero repetitive false-positive triggers.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• Staged phrase buffer verification: Successfully assembles multi-word phrases.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• Drop-to-commit boundary checks: Verified seamless auto-commit on hand exit.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4069080"/>
            <a:ext cx="48006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251960"/>
            <a:ext cx="4434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Latency &amp; Frame Rate Benchmarks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• Camera capture &amp; landmark extraction: ~16.6 ms (Steady 60 FPS).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• ML Classification latency: 0.006 ms (Static) / 0.010 ms (Dynamic).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• Total end-to-end pipeline latency: &lt;50 ms (Virtually imperceptible delay).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4069080"/>
            <a:ext cx="4800600" cy="21945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4251960"/>
            <a:ext cx="4434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EA580C"/>
                </a:solidFill>
                <a:latin typeface="Segoe UI"/>
              </a:defRPr>
            </a:pPr>
            <a:r>
              <a:t>Cross-Device &amp; Network Verification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• Tested on standard Windows 11 laptop webcam.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• Tested on mobile browsers via Cloudflare secure tunnel.</a:t>
            </a:r>
          </a:p>
          <a:p>
            <a:pPr>
              <a:spcAft>
                <a:spcPts val="400"/>
              </a:spcAft>
              <a:defRPr sz="1050">
                <a:solidFill>
                  <a:srgbClr val="1E293B"/>
                </a:solidFill>
                <a:latin typeface="Segoe UI"/>
              </a:defRPr>
            </a:pPr>
            <a:r>
              <a:t>• Bilingual validation: 100% verified translation accuracy between English and Kannada.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02920"/>
            <a:ext cx="99943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KEY NOVELTIES &amp; DISTINCT ADVANTAGES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48006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600200"/>
            <a:ext cx="4434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7490"/>
                </a:solidFill>
                <a:latin typeface="Segoe UI"/>
              </a:defRPr>
            </a:pPr>
            <a:r>
              <a:t>1. Continuous Communication Buffer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Replaces clunky isolated word detection with smooth multi-word sentence formation triggered by natural hand drop-to-commit.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463040"/>
            <a:ext cx="48006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3952" y="1600200"/>
            <a:ext cx="4434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233A"/>
                </a:solidFill>
                <a:latin typeface="Segoe UI"/>
              </a:defRPr>
            </a:pPr>
            <a:r>
              <a:t>2. Dual Visual Feedback Synthesis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Combines verified human signer video with customizable Three.js 3D avatar skeletons for maximum visual clarity.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108960"/>
            <a:ext cx="48006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3246120"/>
            <a:ext cx="4434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7490"/>
                </a:solidFill>
                <a:latin typeface="Segoe UI"/>
              </a:defRPr>
            </a:pPr>
            <a:r>
              <a:t>3. Truly Accessible &amp; Cost-Free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Zero sensor gloves, zero Kinect depth cameras. Runs in standard web browsers on any commodity laptop or smartphone.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91072" y="3108960"/>
            <a:ext cx="48006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3246120"/>
            <a:ext cx="4434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233A"/>
                </a:solidFill>
                <a:latin typeface="Segoe UI"/>
              </a:defRPr>
            </a:pPr>
            <a:r>
              <a:t>4. Bilingual Inclusivity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Seamlessly supports English and regional Kannada (ಕನ್ನಡ) text and voice, promoting linguistic accessibility.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97280" y="4754880"/>
            <a:ext cx="48006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4892040"/>
            <a:ext cx="4434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E7490"/>
                </a:solidFill>
                <a:latin typeface="Segoe UI"/>
              </a:defRPr>
            </a:pPr>
            <a:r>
              <a:t>5. Self-Expanding Vocabulary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In-app missing gesture detection invites users to perform and save new signs, enabling crowd-powered database growth.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91072" y="4754880"/>
            <a:ext cx="4800600" cy="14173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4892040"/>
            <a:ext cx="443484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3233A"/>
                </a:solidFill>
                <a:latin typeface="Segoe UI"/>
              </a:defRPr>
            </a:pPr>
            <a:r>
              <a:t>6. Production-Grade Sub-Millisecond Speed</a:t>
            </a:r>
          </a:p>
          <a:p>
            <a:pPr>
              <a:defRPr sz="1100">
                <a:solidFill>
                  <a:srgbClr val="1E293B"/>
                </a:solidFill>
                <a:latin typeface="Segoe UI"/>
              </a:defRPr>
            </a:pPr>
            <a:r>
              <a:t>Logistic Regression L2 champion model delivers 99.16% test accuracy in 0.006 ms per sample.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502920"/>
            <a:ext cx="9994392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defRPr sz="2600" b="1">
                <a:solidFill>
                  <a:srgbClr val="13233A"/>
                </a:solidFill>
                <a:latin typeface="Segoe UI"/>
              </a:defRPr>
            </a:pPr>
            <a:r>
              <a:t>CONCLUSION &amp; PHASE-2 OUTCOMES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48006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645920"/>
            <a:ext cx="4434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0E7490"/>
                </a:solidFill>
                <a:latin typeface="Segoe UI"/>
              </a:defRPr>
            </a:pPr>
            <a:r>
              <a:t>PHASE-2 OUTCOMES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  <a:latin typeface="Segoe UI"/>
              </a:defRPr>
            </a:pPr>
            <a:r>
              <a:t>• Successfully engineered a complete vision-based bidirectional Indian Sign Language communication framework.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  <a:latin typeface="Segoe UI"/>
              </a:defRPr>
            </a:pPr>
            <a:r>
              <a:t>• Built a robust, sub-50ms pipeline running directly on standard commodity webcams and browsers.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  <a:latin typeface="Segoe UI"/>
              </a:defRPr>
            </a:pPr>
            <a:r>
              <a:t>• Achieved 99.16% static accuracy and 100% dynamic accuracy across 45 ISL classes with zero signer bias.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  <a:latin typeface="Segoe UI"/>
              </a:defRPr>
            </a:pPr>
            <a:r>
              <a:t>• Successfully implemented our Guide's recommendation for continuous sentence signing with drop-to-commit segmentation.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91072" y="1463040"/>
            <a:ext cx="4800600" cy="4663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323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73952" y="1645920"/>
            <a:ext cx="44348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 b="1">
                <a:solidFill>
                  <a:srgbClr val="13233A"/>
                </a:solidFill>
                <a:latin typeface="Segoe UI"/>
              </a:defRPr>
            </a:pPr>
            <a:r>
              <a:t>FUTURE WORK PLAN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  <a:latin typeface="Segoe UI"/>
              </a:defRPr>
            </a:pPr>
            <a:r>
              <a:t>• Facial Expression Tracking: Integrate MediaPipe Face Mesh to capture grammatical markers in ISL.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  <a:latin typeface="Segoe UI"/>
              </a:defRPr>
            </a:pPr>
            <a:r>
              <a:t>• Vocabulary Expansion: Scale dataset to 500+ daily conversational signs across multiple regional dialects.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  <a:latin typeface="Segoe UI"/>
              </a:defRPr>
            </a:pPr>
            <a:r>
              <a:t>• Native Mobile Application: Package as an offline mobile application (Flutter / PWA) for on-device signing.</a:t>
            </a:r>
          </a:p>
          <a:p>
            <a:pPr>
              <a:spcAft>
                <a:spcPts val="1000"/>
              </a:spcAft>
              <a:defRPr sz="1150">
                <a:solidFill>
                  <a:srgbClr val="1E293B"/>
                </a:solidFill>
                <a:latin typeface="Segoe UI"/>
              </a:defRPr>
            </a:pPr>
            <a:r>
              <a:t>• AR Smart Glasses Integration: Projection of 3D ISL avatar onto heads-up displays for hands-free dialogue.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914400"/>
            <a:ext cx="9445752" cy="5029200"/>
          </a:xfrm>
          <a:prstGeom prst="roundRect">
            <a:avLst/>
          </a:prstGeom>
          <a:solidFill>
            <a:srgbClr val="13233A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0" y="1188720"/>
            <a:ext cx="8897112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  <a:defRPr sz="3600" b="1">
                <a:solidFill>
                  <a:srgbClr val="2DD4BF"/>
                </a:solidFill>
                <a:latin typeface="Segoe UI"/>
              </a:defRPr>
            </a:pPr>
            <a:r>
              <a:t>THANK YOU</a:t>
            </a:r>
          </a:p>
          <a:p>
            <a:pPr algn="ctr">
              <a:spcAft>
                <a:spcPts val="1600"/>
              </a:spcAft>
              <a:defRPr sz="2000" b="1">
                <a:solidFill>
                  <a:srgbClr val="FFFFFF"/>
                </a:solidFill>
                <a:latin typeface="Segoe UI"/>
              </a:defRPr>
            </a:pPr>
            <a:r>
              <a:t>Questions &amp; Answers / Discussion</a:t>
            </a:r>
          </a:p>
          <a:p>
            <a:pPr algn="ctr">
              <a:defRPr sz="1300" b="1">
                <a:solidFill>
                  <a:srgbClr val="F59E0B"/>
                </a:solidFill>
                <a:latin typeface="Segoe UI"/>
              </a:defRPr>
            </a:pPr>
            <a:r>
              <a:t>VISION BASED SMART COMMUNICATION SYSTEM FOR SIGN LANGUAGE</a:t>
            </a:r>
          </a:p>
          <a:p>
            <a:pPr algn="ctr">
              <a:spcAft>
                <a:spcPts val="1400"/>
              </a:spcAft>
              <a:defRPr sz="1150">
                <a:solidFill>
                  <a:srgbClr val="94A3B8"/>
                </a:solidFill>
                <a:latin typeface="Segoe UI"/>
              </a:defRPr>
            </a:pPr>
            <a:r>
              <a:t>Government Engineering College Ramanagara | Department of CSE</a:t>
            </a:r>
          </a:p>
          <a:p>
            <a:pPr algn="ctr">
              <a:defRPr sz="1100">
                <a:solidFill>
                  <a:srgbClr val="FFFFFF"/>
                </a:solidFill>
                <a:latin typeface="Segoe UI"/>
              </a:defRPr>
            </a:pPr>
            <a:r>
              <a:t>Under the Guidance of: Dr. Chaya K, Assistant Professor, Dept. of CSE</a:t>
            </a:r>
          </a:p>
          <a:p>
            <a:pPr algn="ctr">
              <a:spcAft>
                <a:spcPts val="1400"/>
              </a:spcAft>
              <a:defRPr sz="1050">
                <a:solidFill>
                  <a:srgbClr val="CBD5E1"/>
                </a:solidFill>
                <a:latin typeface="Segoe UI"/>
              </a:defRPr>
            </a:pPr>
            <a:r>
              <a:t>Team: Anupama G N (1GG23CS007) | Darshan Divakar Naik (1GG23CS016) | Hithaishi M (1GG23CS021) | Keerthana H S (1GG23CS026)</a:t>
            </a:r>
          </a:p>
          <a:p>
            <a:pPr algn="ctr">
              <a:defRPr sz="1200" b="1">
                <a:solidFill>
                  <a:srgbClr val="2DD4BF"/>
                </a:solidFill>
                <a:latin typeface="Segoe UI"/>
              </a:defRPr>
            </a:pPr>
            <a:r>
              <a:t>★ Live Interactive Demonstration Ready for Panel Evaluation ★</a:t>
            </a:r>
          </a:p>
        </p:txBody>
      </p:sp>
    </p:spTree>
  </p:cSld>
  <p:clrMapOvr>
    <a:masterClrMapping/>
  </p:clrMapOvr>
</p:sld>
</file>

<file path=ppt/theme/p1_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Gallery" id="{BBFCD31E-59A1-489D-B089-A3EAD7CAE12E}" vid="{F5E91637-A7B6-4E27-B710-77DA7014EE1E}"/>
    </a:ext>
  </a:extLst>
</a:theme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=""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358</TotalTime>
  <Words>553</Words>
  <Application>Microsoft Office PowerPoint</Application>
  <PresentationFormat>Custom</PresentationFormat>
  <Paragraphs>171</Paragraphs>
  <Slides>11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Gallery</vt:lpstr>
      <vt:lpstr>Slide 1</vt:lpstr>
      <vt:lpstr>  INTRODUCTION</vt:lpstr>
      <vt:lpstr> PROBLEM STATEMENT</vt:lpstr>
      <vt:lpstr> SCOPE OF THE PROJECT</vt:lpstr>
      <vt:lpstr>Slide 5</vt:lpstr>
      <vt:lpstr>Slide 6</vt:lpstr>
      <vt:lpstr> EXISTING SYSTEM</vt:lpstr>
      <vt:lpstr> EXISTING SYSTEM</vt:lpstr>
      <vt:lpstr> PROPOSED SYSTEM</vt:lpstr>
      <vt:lpstr> PROPOSED SYSTEM</vt:lpstr>
      <vt:lpstr> FUTURE SCOPE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keeruk70@gmail.com</dc:creator>
  <cp:lastModifiedBy>user</cp:lastModifiedBy>
  <cp:revision>17</cp:revision>
  <dcterms:created xsi:type="dcterms:W3CDTF">2026-04-06T13:16:19Z</dcterms:created>
  <dcterms:modified xsi:type="dcterms:W3CDTF">2026-10-29T13:01:00Z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